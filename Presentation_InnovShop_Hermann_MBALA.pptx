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32f89f2-034d-0cc7-63bc-a5ef511a44a2}">
          <p14:sldIdLst>
            <p14:sldId id="256"/>
            <p14:sldId id="257"/>
          </p14:sldIdLst>
        </p14:section>
        <p14:section name="1. Le projet" id="{d4399875-14c1-29ef-2bec-3c6c69dc906e}">
          <p14:sldIdLst>
            <p14:sldId id="258"/>
            <p14:sldId id="259"/>
            <p14:sldId id="260"/>
            <p14:sldId id="261"/>
          </p14:sldIdLst>
        </p14:section>
        <p14:section name="2. La conception" id="{8cc3b047-7f89-da28-7bca-61507d91198f}">
          <p14:sldIdLst>
            <p14:sldId id="262"/>
            <p14:sldId id="263"/>
            <p14:sldId id="264"/>
            <p14:sldId id="265"/>
          </p14:sldIdLst>
        </p14:section>
        <p14:section name="3. Les réalisations" id="{6e33e706-ca45-71d3-2944-57ec24c85314}">
          <p14:sldIdLst>
            <p14:sldId id="266"/>
            <p14:sldId id="267"/>
            <p14:sldId id="268"/>
            <p14:sldId id="269"/>
            <p14:sldId id="270"/>
            <p14:sldId id="271"/>
            <p14:sldId id="272"/>
            <p14:sldId id="273"/>
          </p14:sldIdLst>
        </p14:section>
        <p14:section name="4. Mise en ligne et bilan" id="{0b756eb7-c269-1590-97f8-35ace8ec03d1}">
          <p14:sldIdLst>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Hermann Mbala. Je vais vous présenter InnovShop, une boutique en ligne d'objets futuristes que j'ai réalisée seul avec le framework Symfony pendant ma formation. Ma présentation dure environ 35 minutes, avec une démonstration du site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présentation suit 4 parties : le projet et le besoin de la cliente, la conception, les réalisations front-end et back-end avec la sécurité et les tests, puis la mise en ligne, une démonstration et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commence par le besoin de la cliente et l'organisation de mon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cliente fictive, Madame Leroy, lance une start-up d'objets du futur. Elle veut une vitrine, un parcours d'achat simple, un espace client, et un back-office pour gérer sa boutique seule. Le cahier des charges impose Symfony et Twig. J'ai relevé deux points flous : il parlait de bonnes pratiques Laravel, j'ai appliqué celles de Symfony ; et d'un suivi d'épargne, que j'ai remplacé par le suivi des commandes.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InnovShop couvre les 8 compétences du titre : les 4 du bloc front-end à gauche et les 4 du bloc back-end à droite. Le NoSQL n'est pas utilisé : les données sont très liées, une base relationnelle est le bon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traduit le besoin en 42 user stories, avec une priorité et une complexité. J'ai suivi l'avancement sur un tableau Kanban Trello, et je faisais un commit Git à la fin de chaque séquence. 41 sont terminées. La US37, supprimer un compte client, a été écartée exprès : cela effacerait l'historique de ses commandes.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passe à la conception : les technologies choisies, l'architecture et la base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Symfony 7.4 est imposé ; j'ai pris la version LTS, maintenue longtemps, car Symfony 8 demande PHP 8.4 et j'ai PHP 8.2. Doctrine me fait manipuler des objets PHP au lieu d'écrire du SQL. Twig échappe le texte automatiquement. Bootstrap donne une grille responsive. EasyAdmin génère le back-office. Symfony Mailer envoie les emails et Dompdf fabrique les factures.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Symfony organise le code en MVC. Exemple : le clic sur Ajouter au panier arrive au PanierController, qui appelle le PanierService. La réponse repart vers le navigateur en HTML, ou en JSON quand la demande vient d'AJAX. Les controllers restent légers : la logique est dans les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a 7 entités. Choix importants : le nom et le prix du produit sont copiés dans la ligne de commande, pour que les anciennes factures ne changent pas si le prix change. Le numéro de commande est unique en base. Des index accélèrent les tris. Le panier n'est pas une table : il est rangé dans la session du visiteur.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ce que j'ai réalisé, côté front-end puis côté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parcours d'achat, de l'accueil jusqu'à l'espace client. La commande est réservée aux clients connectés et se fait en 3 étapes : vérification, livraison, confirmation. Une barre d'étapes montre toujours au client où il en 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pages héritent d'un gabarit commun, base.html.twig, et les éléments répétés sont des morceaux réutilisables, comme la carte produit. En mobile first avec Bootstrap : 1 carte par ligne sur téléphone, 2 sur tablette, 3 sur ordinateur. Le menu se replie derrière un bouton burger. Lighthouse donne 100 en accessibilité.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le client clique sur Ajouter au panier, mon JavaScript bloque le rechargement, envoie le formulaire avec fetch, et reçoit une réponse JSON avec le nombre d'articles et le total. Côté serveur, le même contrôleur répond en JSON pour AJAX, sinon il redirige : le site marche aussi sans JavaScript. En cas d'erreur, un try/catch affiche un message. J'affiche le texte avec textContent, jamais innerHTML, contre le XSS.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le client confirme, le contrôleur vérifie d'abord la sécurité : la route n'accepte que POST, le jeton CSRF est contrôlé, et un Voter vérifie que l'adresse lui appartient. Il crée la commande avec un numéro unique, une ligne par article où le nom et le prix sont copiés, enregistre tout avec persist puis flush, vide le panier et envoie un email. Ensuite, un écouteur Doctrine envoie un email à chaque changement de statut, et le FactureService fabrique la facture PDF avec Dompdf.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sécurité, ma référence est l'OWASP Top 10. Contre l'injection SQL : requêtes préparées. Contre le XSS : Twig échappe tout et j'utilise textContent. Contre le CSRF : un jeton secret dans chaque formulaire. Contre l'IDOR, c'est-à-dire ouvrir la commande d'un autre en changeant le numéro dans l'adresse : les Voters, avec une erreur 403. Les mots de passe sont hachés en bcrypt.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le Profiler, j'ai vu que le catalogue faisait 10 requêtes : une pour la liste, puis une de plus pour les options de chaque produit. C'est le problème N+1. Avec une jointure, leftJoin et addSelect, Doctrine charge tout d'un coup : il ne reste que 2 requêtes. J'ai aussi ajouté des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testé la fonctionnalité la plus représentative, passer une commande : 10 étapes du scénario normal et 6 cas d'erreur, tous conformes. Ce jeu d'essai m'a fait trouver une anomalie : un jeton CSRF modifié échouait en silence ; maintenant le serveur renvoie 400 et le JavaScript affiche un message. J'ai aussi écrit 17 tests PHPUnit, unitaires et fonctionnels, dont un qui vérifie que le Voter bloque la commande d'un autre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partie : le déploiement, une démonstration et mon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est en ligne chez Alwaysdata. Le répertoire racine pointe sur public, donc le code et les secrets ne sont pas visibles. J'ai cloné le dépôt en SSH, mis les secrets dans .env.local, installé sans les outils de développement, lancé les migrations et compilé les assets. J'ai résolu trois problèmes, documentés dans le README. Résultat Lighthouse : 100 partout.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passe à la démonstration sur le site en ligne. Côté client : je cherche veste, j'ajoute au panier et le compteur change sans rechargement, je passe une commande en 3 étapes, puis je montre l'espace client et la facture. Côté admin : le back-office, et un changement de statut qui envoie un email. Si Internet ne marche pas, j'utilise les captures du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suis le plus satisfait de la commande sécurisée de bout en bout, de l'email automatique au changement de statut, et de l'optimisation. Mes difficultés m'ont appris des choses : mesurer avant d'optimiser, toujours prévoir le cas d'erreur, et lire les messages d'erreur un par un pendant la mise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InnovShop est une application complète, de l'analyse du besoin à la mise en ligne, et elle couvre les 8 compétences du titre. Pour aller plus loin, j'ajouterais le paiement en ligne, les quantités et le stock, un journal des actions sensibles, et des tests automatiques à chaque envoi sur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429000"/>
            <a:ext cx="10698480" cy="20116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1069848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2011680"/>
            <a:ext cx="10698480" cy="731520"/>
          </a:xfrm>
          <a:prstGeom prst="rect">
            <a:avLst/>
          </a:prstGeom>
          <a:noFill/>
          <a:ln/>
        </p:spPr>
        <p:txBody>
          <a:bodyPr wrap="square" rtlCol="0"/>
          <a:lstStyle>
            <a:lvl1pPr indent="0" marL="0">
              <a:buNone/>
              <a:defRPr lang="en-US" sz="2400" b="1" dirty="0">
                <a:solidFill>
                  <a:schemeClr val="accent2"/>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11247120"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InnovShop — Hermann MBALA — Développeur Web et Web Mobile</a:t>
            </a:r>
            <a:endParaRPr lang="en-US" sz="10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hermann.alwaysdata.net/innovshop/" TargetMode="Externa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rPr>
              <a:t>InnovShop</a:t>
            </a:r>
            <a:endParaRPr lang="en-US" sz="5400" dirty="0"/>
          </a:p>
        </p:txBody>
      </p:sp>
      <p:sp>
        <p:nvSpPr>
          <p:cNvPr id="3" name="Text 0"/>
          <p:cNvSpPr/>
          <p:nvPr>
            <p:ph idx="101" type="body" hasCustomPrompt="1"/>
          </p:nvPr>
        </p:nvSpPr>
        <p:spPr>
          <a:xfrm>
            <a:off x="731520" y="3429000"/>
            <a:ext cx="10698480" cy="2011680"/>
          </a:xfrm>
          <a:prstGeom prst="rect">
            <a:avLst/>
          </a:prstGeom>
          <a:noFill/>
          <a:ln/>
        </p:spPr>
        <p:txBody>
          <a:bodyPr wrap="square" lIns="0" tIns="0" rIns="0" bIns="0" rtlCol="0" anchor="t"/>
          <a:lstStyle/>
          <a:p>
            <a:pPr indent="0" marL="0">
              <a:buNone/>
            </a:pPr>
            <a:r>
              <a:rPr lang="en-US" sz="2200" dirty="0">
                <a:solidFill>
                  <a:schemeClr val="bg2"/>
                </a:solidFill>
              </a:rPr>
              <a:t>Le futur, livré chez vous — boutique en ligne avec Symfony 7.4</a:t>
            </a:r>
            <a:endParaRPr lang="en-US" sz="2200" dirty="0"/>
          </a:p>
          <a:p>
            <a:pPr indent="0" marL="0">
              <a:buNone/>
            </a:pPr>
            <a:r>
              <a:rPr lang="en-US" sz="1200" dirty="0">
                <a:solidFill>
                  <a:schemeClr val="bg2"/>
                </a:solidFill>
              </a:rPr>
              <a:t> </a:t>
            </a:r>
            <a:endParaRPr lang="en-US" sz="2200" dirty="0"/>
          </a:p>
          <a:p>
            <a:pPr indent="0" marL="0">
              <a:buNone/>
            </a:pPr>
            <a:r>
              <a:rPr lang="en-US" sz="2200" b="1" dirty="0">
                <a:solidFill>
                  <a:schemeClr val="accent2"/>
                </a:solidFill>
              </a:rPr>
              <a:t>Hermann MBALA</a:t>
            </a:r>
            <a:endParaRPr lang="en-US" sz="2200" dirty="0"/>
          </a:p>
          <a:p>
            <a:pPr indent="0" marL="0">
              <a:buNone/>
            </a:pPr>
            <a:r>
              <a:rPr lang="en-US" sz="1800" dirty="0">
                <a:solidFill>
                  <a:schemeClr val="bg2"/>
                </a:solidFill>
              </a:rPr>
              <a:t>Titre professionnel Développeur Web et Web Mobile — Global Digital University</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Sommaire</a:t>
            </a:r>
            <a:endParaRPr lang="en-US" sz="3200" dirty="0"/>
          </a:p>
        </p:txBody>
      </p:sp>
      <p:sp>
        <p:nvSpPr>
          <p:cNvPr id="3" name="partie-1"/>
          <p:cNvSpPr/>
          <p:nvPr/>
        </p:nvSpPr>
        <p:spPr>
          <a:xfrm>
            <a:off x="548640" y="1737360"/>
            <a:ext cx="2606040" cy="3291840"/>
          </a:xfrm>
          <a:prstGeom prst="roundRect">
            <a:avLst>
              <a:gd name="adj" fmla="val 4211"/>
            </a:avLst>
          </a:prstGeom>
          <a:solidFill>
            <a:schemeClr val="bg2"/>
          </a:solidFill>
          <a:ln w="12700">
            <a:solidFill>
              <a:schemeClr val="bg2"/>
            </a:solidFill>
            <a:prstDash val="solid"/>
          </a:ln>
        </p:spPr>
      </p:sp>
      <p:sp>
        <p:nvSpPr>
          <p:cNvPr id="4" name="num-1"/>
          <p:cNvSpPr/>
          <p:nvPr/>
        </p:nvSpPr>
        <p:spPr>
          <a:xfrm>
            <a:off x="822960" y="205740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822960" y="205740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6" name="Text 4"/>
          <p:cNvSpPr txBox="1"/>
          <p:nvPr/>
        </p:nvSpPr>
        <p:spPr>
          <a:xfrm>
            <a:off x="822960" y="3108960"/>
            <a:ext cx="2103120" cy="548640"/>
          </a:xfrm>
          <a:prstGeom prst="rect">
            <a:avLst/>
          </a:prstGeom>
          <a:noFill/>
          <a:ln/>
        </p:spPr>
        <p:txBody>
          <a:bodyPr wrap="square" lIns="0" tIns="0" rIns="0" bIns="0" rtlCol="0" anchor="ctr"/>
          <a:lstStyle/>
          <a:p>
            <a:pPr indent="0" marL="0">
              <a:buNone/>
            </a:pPr>
            <a:r>
              <a:rPr lang="en-US" sz="2100" b="1" dirty="0">
                <a:solidFill>
                  <a:schemeClr val="tx1"/>
                </a:solidFill>
              </a:rPr>
              <a:t>Le projet</a:t>
            </a:r>
            <a:endParaRPr lang="en-US" sz="2100" dirty="0"/>
          </a:p>
        </p:txBody>
      </p:sp>
      <p:sp>
        <p:nvSpPr>
          <p:cNvPr id="7" name="Text 5"/>
          <p:cNvSpPr txBox="1"/>
          <p:nvPr/>
        </p:nvSpPr>
        <p:spPr>
          <a:xfrm>
            <a:off x="822960" y="3703320"/>
            <a:ext cx="2103120" cy="1097280"/>
          </a:xfrm>
          <a:prstGeom prst="rect">
            <a:avLst/>
          </a:prstGeom>
          <a:noFill/>
          <a:ln/>
        </p:spPr>
        <p:txBody>
          <a:bodyPr wrap="square" lIns="0" tIns="0" rIns="0" bIns="0" rtlCol="0" anchor="t"/>
          <a:lstStyle/>
          <a:p>
            <a:pPr indent="0" marL="0">
              <a:buNone/>
            </a:pPr>
            <a:r>
              <a:rPr lang="en-US" sz="1500" dirty="0">
                <a:solidFill>
                  <a:schemeClr val="tx2"/>
                </a:solidFill>
              </a:rPr>
              <a:t>Le besoin, les compétences, l’organisation</a:t>
            </a:r>
            <a:endParaRPr lang="en-US" sz="1500" dirty="0"/>
          </a:p>
        </p:txBody>
      </p:sp>
      <p:sp>
        <p:nvSpPr>
          <p:cNvPr id="8" name="partie-2"/>
          <p:cNvSpPr/>
          <p:nvPr/>
        </p:nvSpPr>
        <p:spPr>
          <a:xfrm>
            <a:off x="3364992" y="1737360"/>
            <a:ext cx="2606040" cy="3291840"/>
          </a:xfrm>
          <a:prstGeom prst="roundRect">
            <a:avLst>
              <a:gd name="adj" fmla="val 4211"/>
            </a:avLst>
          </a:prstGeom>
          <a:solidFill>
            <a:schemeClr val="bg2"/>
          </a:solidFill>
          <a:ln w="12700">
            <a:solidFill>
              <a:schemeClr val="bg2"/>
            </a:solidFill>
            <a:prstDash val="solid"/>
          </a:ln>
        </p:spPr>
      </p:sp>
      <p:sp>
        <p:nvSpPr>
          <p:cNvPr id="9" name="num-2"/>
          <p:cNvSpPr/>
          <p:nvPr/>
        </p:nvSpPr>
        <p:spPr>
          <a:xfrm>
            <a:off x="3639312" y="2057400"/>
            <a:ext cx="822960" cy="822960"/>
          </a:xfrm>
          <a:prstGeom prst="ellipse">
            <a:avLst/>
          </a:prstGeom>
          <a:solidFill>
            <a:schemeClr val="accent1"/>
          </a:solidFill>
          <a:ln w="12700">
            <a:solidFill>
              <a:schemeClr val="accent1"/>
            </a:solidFill>
            <a:prstDash val="solid"/>
          </a:ln>
        </p:spPr>
      </p:sp>
      <p:sp>
        <p:nvSpPr>
          <p:cNvPr id="10" name="Text 8"/>
          <p:cNvSpPr txBox="1"/>
          <p:nvPr/>
        </p:nvSpPr>
        <p:spPr>
          <a:xfrm>
            <a:off x="3639312" y="205740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11" name="Text 9"/>
          <p:cNvSpPr txBox="1"/>
          <p:nvPr/>
        </p:nvSpPr>
        <p:spPr>
          <a:xfrm>
            <a:off x="3639312" y="3108960"/>
            <a:ext cx="2103120" cy="548640"/>
          </a:xfrm>
          <a:prstGeom prst="rect">
            <a:avLst/>
          </a:prstGeom>
          <a:noFill/>
          <a:ln/>
        </p:spPr>
        <p:txBody>
          <a:bodyPr wrap="square" lIns="0" tIns="0" rIns="0" bIns="0" rtlCol="0" anchor="ctr"/>
          <a:lstStyle/>
          <a:p>
            <a:pPr indent="0" marL="0">
              <a:buNone/>
            </a:pPr>
            <a:r>
              <a:rPr lang="en-US" sz="2100" b="1" dirty="0">
                <a:solidFill>
                  <a:schemeClr val="tx1"/>
                </a:solidFill>
              </a:rPr>
              <a:t>La conception</a:t>
            </a:r>
            <a:endParaRPr lang="en-US" sz="2100" dirty="0"/>
          </a:p>
        </p:txBody>
      </p:sp>
      <p:sp>
        <p:nvSpPr>
          <p:cNvPr id="12" name="Text 10"/>
          <p:cNvSpPr txBox="1"/>
          <p:nvPr/>
        </p:nvSpPr>
        <p:spPr>
          <a:xfrm>
            <a:off x="3639312" y="3703320"/>
            <a:ext cx="2103120" cy="1097280"/>
          </a:xfrm>
          <a:prstGeom prst="rect">
            <a:avLst/>
          </a:prstGeom>
          <a:noFill/>
          <a:ln/>
        </p:spPr>
        <p:txBody>
          <a:bodyPr wrap="square" lIns="0" tIns="0" rIns="0" bIns="0" rtlCol="0" anchor="t"/>
          <a:lstStyle/>
          <a:p>
            <a:pPr indent="0" marL="0">
              <a:buNone/>
            </a:pPr>
            <a:r>
              <a:rPr lang="en-US" sz="1500" dirty="0">
                <a:solidFill>
                  <a:schemeClr val="tx2"/>
                </a:solidFill>
              </a:rPr>
              <a:t>Technologies, architecture, base de données</a:t>
            </a:r>
            <a:endParaRPr lang="en-US" sz="1500" dirty="0"/>
          </a:p>
        </p:txBody>
      </p:sp>
      <p:sp>
        <p:nvSpPr>
          <p:cNvPr id="13" name="partie-3"/>
          <p:cNvSpPr/>
          <p:nvPr/>
        </p:nvSpPr>
        <p:spPr>
          <a:xfrm>
            <a:off x="6181344" y="1737360"/>
            <a:ext cx="2606040" cy="3291840"/>
          </a:xfrm>
          <a:prstGeom prst="roundRect">
            <a:avLst>
              <a:gd name="adj" fmla="val 4211"/>
            </a:avLst>
          </a:prstGeom>
          <a:solidFill>
            <a:schemeClr val="bg2"/>
          </a:solidFill>
          <a:ln w="12700">
            <a:solidFill>
              <a:schemeClr val="bg2"/>
            </a:solidFill>
            <a:prstDash val="solid"/>
          </a:ln>
        </p:spPr>
      </p:sp>
      <p:sp>
        <p:nvSpPr>
          <p:cNvPr id="14" name="num-3"/>
          <p:cNvSpPr/>
          <p:nvPr/>
        </p:nvSpPr>
        <p:spPr>
          <a:xfrm>
            <a:off x="6455664" y="2057400"/>
            <a:ext cx="822960" cy="822960"/>
          </a:xfrm>
          <a:prstGeom prst="ellipse">
            <a:avLst/>
          </a:prstGeom>
          <a:solidFill>
            <a:schemeClr val="accent1"/>
          </a:solidFill>
          <a:ln w="12700">
            <a:solidFill>
              <a:schemeClr val="accent1"/>
            </a:solidFill>
            <a:prstDash val="solid"/>
          </a:ln>
        </p:spPr>
      </p:sp>
      <p:sp>
        <p:nvSpPr>
          <p:cNvPr id="15" name="Text 13"/>
          <p:cNvSpPr txBox="1"/>
          <p:nvPr/>
        </p:nvSpPr>
        <p:spPr>
          <a:xfrm>
            <a:off x="6455664" y="205740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6" name="Text 14"/>
          <p:cNvSpPr txBox="1"/>
          <p:nvPr/>
        </p:nvSpPr>
        <p:spPr>
          <a:xfrm>
            <a:off x="6455664" y="3108960"/>
            <a:ext cx="2103120" cy="548640"/>
          </a:xfrm>
          <a:prstGeom prst="rect">
            <a:avLst/>
          </a:prstGeom>
          <a:noFill/>
          <a:ln/>
        </p:spPr>
        <p:txBody>
          <a:bodyPr wrap="square" lIns="0" tIns="0" rIns="0" bIns="0" rtlCol="0" anchor="ctr"/>
          <a:lstStyle/>
          <a:p>
            <a:pPr indent="0" marL="0">
              <a:buNone/>
            </a:pPr>
            <a:r>
              <a:rPr lang="en-US" sz="2100" b="1" dirty="0">
                <a:solidFill>
                  <a:schemeClr val="tx1"/>
                </a:solidFill>
              </a:rPr>
              <a:t>Les réalisations</a:t>
            </a:r>
            <a:endParaRPr lang="en-US" sz="2100" dirty="0"/>
          </a:p>
        </p:txBody>
      </p:sp>
      <p:sp>
        <p:nvSpPr>
          <p:cNvPr id="17" name="Text 15"/>
          <p:cNvSpPr txBox="1"/>
          <p:nvPr/>
        </p:nvSpPr>
        <p:spPr>
          <a:xfrm>
            <a:off x="6455664" y="3703320"/>
            <a:ext cx="2103120" cy="1097280"/>
          </a:xfrm>
          <a:prstGeom prst="rect">
            <a:avLst/>
          </a:prstGeom>
          <a:noFill/>
          <a:ln/>
        </p:spPr>
        <p:txBody>
          <a:bodyPr wrap="square" lIns="0" tIns="0" rIns="0" bIns="0" rtlCol="0" anchor="t"/>
          <a:lstStyle/>
          <a:p>
            <a:pPr indent="0" marL="0">
              <a:buNone/>
            </a:pPr>
            <a:r>
              <a:rPr lang="en-US" sz="1500" dirty="0">
                <a:solidFill>
                  <a:schemeClr val="tx2"/>
                </a:solidFill>
              </a:rPr>
              <a:t>Front-end, back-end, sécurité, tests</a:t>
            </a:r>
            <a:endParaRPr lang="en-US" sz="1500" dirty="0"/>
          </a:p>
        </p:txBody>
      </p:sp>
      <p:sp>
        <p:nvSpPr>
          <p:cNvPr id="18" name="partie-4"/>
          <p:cNvSpPr/>
          <p:nvPr/>
        </p:nvSpPr>
        <p:spPr>
          <a:xfrm>
            <a:off x="8997696" y="1737360"/>
            <a:ext cx="2606040" cy="3291840"/>
          </a:xfrm>
          <a:prstGeom prst="roundRect">
            <a:avLst>
              <a:gd name="adj" fmla="val 4211"/>
            </a:avLst>
          </a:prstGeom>
          <a:solidFill>
            <a:schemeClr val="bg2"/>
          </a:solidFill>
          <a:ln w="12700">
            <a:solidFill>
              <a:schemeClr val="bg2"/>
            </a:solidFill>
            <a:prstDash val="solid"/>
          </a:ln>
        </p:spPr>
      </p:sp>
      <p:sp>
        <p:nvSpPr>
          <p:cNvPr id="19" name="num-4"/>
          <p:cNvSpPr/>
          <p:nvPr/>
        </p:nvSpPr>
        <p:spPr>
          <a:xfrm>
            <a:off x="9272016" y="2057400"/>
            <a:ext cx="822960" cy="822960"/>
          </a:xfrm>
          <a:prstGeom prst="ellipse">
            <a:avLst/>
          </a:prstGeom>
          <a:solidFill>
            <a:schemeClr val="accent1"/>
          </a:solidFill>
          <a:ln w="12700">
            <a:solidFill>
              <a:schemeClr val="accent1"/>
            </a:solidFill>
            <a:prstDash val="solid"/>
          </a:ln>
        </p:spPr>
      </p:sp>
      <p:sp>
        <p:nvSpPr>
          <p:cNvPr id="20" name="Text 18"/>
          <p:cNvSpPr txBox="1"/>
          <p:nvPr/>
        </p:nvSpPr>
        <p:spPr>
          <a:xfrm>
            <a:off x="9272016" y="205740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rPr>
              <a:t>4</a:t>
            </a:r>
            <a:endParaRPr lang="en-US" sz="3000" dirty="0"/>
          </a:p>
        </p:txBody>
      </p:sp>
      <p:sp>
        <p:nvSpPr>
          <p:cNvPr id="21" name="Text 19"/>
          <p:cNvSpPr txBox="1"/>
          <p:nvPr/>
        </p:nvSpPr>
        <p:spPr>
          <a:xfrm>
            <a:off x="9272016" y="3108960"/>
            <a:ext cx="2103120" cy="548640"/>
          </a:xfrm>
          <a:prstGeom prst="rect">
            <a:avLst/>
          </a:prstGeom>
          <a:noFill/>
          <a:ln/>
        </p:spPr>
        <p:txBody>
          <a:bodyPr wrap="square" lIns="0" tIns="0" rIns="0" bIns="0" rtlCol="0" anchor="ctr"/>
          <a:lstStyle/>
          <a:p>
            <a:pPr indent="0" marL="0">
              <a:buNone/>
            </a:pPr>
            <a:r>
              <a:rPr lang="en-US" sz="2100" b="1" dirty="0">
                <a:solidFill>
                  <a:schemeClr val="tx1"/>
                </a:solidFill>
              </a:rPr>
              <a:t>Mise en ligne et bilan</a:t>
            </a:r>
            <a:endParaRPr lang="en-US" sz="2100" dirty="0"/>
          </a:p>
        </p:txBody>
      </p:sp>
      <p:sp>
        <p:nvSpPr>
          <p:cNvPr id="22" name="Text 20"/>
          <p:cNvSpPr txBox="1"/>
          <p:nvPr/>
        </p:nvSpPr>
        <p:spPr>
          <a:xfrm>
            <a:off x="9272016" y="3703320"/>
            <a:ext cx="2103120" cy="1097280"/>
          </a:xfrm>
          <a:prstGeom prst="rect">
            <a:avLst/>
          </a:prstGeom>
          <a:noFill/>
          <a:ln/>
        </p:spPr>
        <p:txBody>
          <a:bodyPr wrap="square" lIns="0" tIns="0" rIns="0" bIns="0" rtlCol="0" anchor="t"/>
          <a:lstStyle/>
          <a:p>
            <a:pPr indent="0" marL="0">
              <a:buNone/>
            </a:pPr>
            <a:r>
              <a:rPr lang="en-US" sz="1500" dirty="0">
                <a:solidFill>
                  <a:schemeClr val="tx2"/>
                </a:solidFill>
              </a:rPr>
              <a:t>Déploiement, démonstration, conclusion</a:t>
            </a:r>
            <a:endParaRPr lang="en-US" sz="15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10698480" cy="731520"/>
          </a:xfrm>
          <a:prstGeom prst="rect">
            <a:avLst/>
          </a:prstGeom>
          <a:noFill/>
          <a:ln/>
        </p:spPr>
        <p:txBody>
          <a:bodyPr wrap="square" lIns="0" tIns="0" rIns="0" bIns="0" rtlCol="0" anchor="b"/>
          <a:lstStyle/>
          <a:p>
            <a:pPr indent="0" marL="0">
              <a:buNone/>
            </a:pPr>
            <a:r>
              <a:rPr lang="en-US" sz="2400" b="1" dirty="0">
                <a:solidFill>
                  <a:schemeClr val="accent2"/>
                </a:solidFill>
              </a:rPr>
              <a:t>Partie 1</a:t>
            </a:r>
            <a:endParaRPr lang="en-US" sz="2400" dirty="0"/>
          </a:p>
        </p:txBody>
      </p:sp>
      <p:sp>
        <p:nvSpPr>
          <p:cNvPr id="3" name="Text 0"/>
          <p:cNvSpPr/>
          <p:nvPr>
            <p:ph idx="100" type="title" hasCustomPrompt="1"/>
          </p:nvPr>
        </p:nvSpPr>
        <p:spPr>
          <a:xfrm>
            <a:off x="731520" y="2743200"/>
            <a:ext cx="10698480" cy="1097280"/>
          </a:xfrm>
          <a:prstGeom prst="rect">
            <a:avLst/>
          </a:prstGeom>
          <a:noFill/>
          <a:ln/>
        </p:spPr>
        <p:txBody>
          <a:bodyPr wrap="square" lIns="0" tIns="0" rIns="0" bIns="0" rtlCol="0" anchor="ctr"/>
          <a:lstStyle/>
          <a:p>
            <a:pPr algn="l" indent="0" marL="0">
              <a:buNone/>
            </a:pPr>
            <a:r>
              <a:rPr lang="en-US" sz="4400" b="1" dirty="0">
                <a:solidFill>
                  <a:schemeClr val="bg1"/>
                </a:solidFill>
              </a:rPr>
              <a:t>Le projet</a:t>
            </a:r>
            <a:endParaRPr lang="en-US" sz="4400" dirty="0"/>
          </a:p>
        </p:txBody>
      </p:sp>
      <p:sp>
        <p:nvSpPr>
          <p:cNvPr id="25" name="Slide Number Placeholder 0"/>
          <p:cNvSpPr>
            <a:spLocks noGrp="1"/>
          </p:cNvSpPr>
          <p:nvPr>
            <p:ph type="sldNum" sz="quarter" idx="4294967295"/>
          </p:nvPr>
        </p:nvSpPr>
        <p:spPr>
          <a:xfrm>
            <a:off x="11247120"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Le besoin de Madame Leroy</a:t>
            </a:r>
            <a:endParaRPr lang="en-US" sz="3200" dirty="0"/>
          </a:p>
        </p:txBody>
      </p:sp>
      <p:sp>
        <p:nvSpPr>
          <p:cNvPr id="3" name="Text 1"/>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1800" dirty="0">
                <a:solidFill>
                  <a:schemeClr val="tx2"/>
                </a:solidFill>
              </a:rPr>
              <a:t>Une start-up qui vend des objets technologiques du futur veut une boutique en ligne complète.</a:t>
            </a:r>
            <a:endParaRPr lang="en-US" sz="1800" dirty="0"/>
          </a:p>
        </p:txBody>
      </p:sp>
      <p:sp>
        <p:nvSpPr>
          <p:cNvPr id="4" name="carte-Front office"/>
          <p:cNvSpPr/>
          <p:nvPr/>
        </p:nvSpPr>
        <p:spPr>
          <a:xfrm>
            <a:off x="548640" y="2011680"/>
            <a:ext cx="3566160" cy="2377440"/>
          </a:xfrm>
          <a:prstGeom prst="roundRect">
            <a:avLst>
              <a:gd name="adj" fmla="val 4615"/>
            </a:avLst>
          </a:prstGeom>
          <a:solidFill>
            <a:schemeClr val="bg2"/>
          </a:solidFill>
          <a:ln w="12700">
            <a:solidFill>
              <a:schemeClr val="bg2"/>
            </a:solidFill>
            <a:prstDash val="solid"/>
          </a:ln>
        </p:spPr>
      </p:sp>
      <p:sp>
        <p:nvSpPr>
          <p:cNvPr id="5" name="pastille-Front office"/>
          <p:cNvSpPr/>
          <p:nvPr/>
        </p:nvSpPr>
        <p:spPr>
          <a:xfrm>
            <a:off x="777240" y="2267712"/>
            <a:ext cx="201168" cy="201168"/>
          </a:xfrm>
          <a:prstGeom prst="ellipse">
            <a:avLst/>
          </a:prstGeom>
          <a:solidFill>
            <a:schemeClr val="accent1"/>
          </a:solidFill>
          <a:ln w="12700">
            <a:solidFill>
              <a:schemeClr val="accent1"/>
            </a:solidFill>
            <a:prstDash val="solid"/>
          </a:ln>
        </p:spPr>
      </p:sp>
      <p:sp>
        <p:nvSpPr>
          <p:cNvPr id="6" name="Text 4"/>
          <p:cNvSpPr txBox="1"/>
          <p:nvPr/>
        </p:nvSpPr>
        <p:spPr>
          <a:xfrm>
            <a:off x="1097280" y="2176272"/>
            <a:ext cx="2834640" cy="384048"/>
          </a:xfrm>
          <a:prstGeom prst="rect">
            <a:avLst/>
          </a:prstGeom>
          <a:noFill/>
          <a:ln/>
        </p:spPr>
        <p:txBody>
          <a:bodyPr wrap="square" lIns="0" tIns="0" rIns="0" bIns="0" rtlCol="0" anchor="ctr"/>
          <a:lstStyle/>
          <a:p>
            <a:pPr indent="0" marL="0">
              <a:buNone/>
            </a:pPr>
            <a:r>
              <a:rPr lang="en-US" sz="1800" b="1" dirty="0">
                <a:solidFill>
                  <a:schemeClr val="tx1"/>
                </a:solidFill>
              </a:rPr>
              <a:t>Front office</a:t>
            </a:r>
            <a:endParaRPr lang="en-US" sz="1800" dirty="0"/>
          </a:p>
        </p:txBody>
      </p:sp>
      <p:sp>
        <p:nvSpPr>
          <p:cNvPr id="7" name="Text 5"/>
          <p:cNvSpPr txBox="1"/>
          <p:nvPr/>
        </p:nvSpPr>
        <p:spPr>
          <a:xfrm>
            <a:off x="777240" y="2697480"/>
            <a:ext cx="3108960" cy="155448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Accueil, catalogue, fiche produit, panier, inscription et connexion, commande, espace client.</a:t>
            </a:r>
            <a:endParaRPr lang="en-US" sz="1800" dirty="0"/>
          </a:p>
        </p:txBody>
      </p:sp>
      <p:sp>
        <p:nvSpPr>
          <p:cNvPr id="8" name="carte-Back office"/>
          <p:cNvSpPr/>
          <p:nvPr/>
        </p:nvSpPr>
        <p:spPr>
          <a:xfrm>
            <a:off x="4315968" y="2011680"/>
            <a:ext cx="3566160" cy="2377440"/>
          </a:xfrm>
          <a:prstGeom prst="roundRect">
            <a:avLst>
              <a:gd name="adj" fmla="val 4615"/>
            </a:avLst>
          </a:prstGeom>
          <a:solidFill>
            <a:schemeClr val="bg2"/>
          </a:solidFill>
          <a:ln w="12700">
            <a:solidFill>
              <a:schemeClr val="bg2"/>
            </a:solidFill>
            <a:prstDash val="solid"/>
          </a:ln>
        </p:spPr>
      </p:sp>
      <p:sp>
        <p:nvSpPr>
          <p:cNvPr id="9" name="pastille-Back office"/>
          <p:cNvSpPr/>
          <p:nvPr/>
        </p:nvSpPr>
        <p:spPr>
          <a:xfrm>
            <a:off x="4544568" y="2267712"/>
            <a:ext cx="201168" cy="201168"/>
          </a:xfrm>
          <a:prstGeom prst="ellipse">
            <a:avLst/>
          </a:prstGeom>
          <a:solidFill>
            <a:schemeClr val="accent2"/>
          </a:solidFill>
          <a:ln w="12700">
            <a:solidFill>
              <a:schemeClr val="accent2"/>
            </a:solidFill>
            <a:prstDash val="solid"/>
          </a:ln>
        </p:spPr>
      </p:sp>
      <p:sp>
        <p:nvSpPr>
          <p:cNvPr id="10" name="Text 8"/>
          <p:cNvSpPr txBox="1"/>
          <p:nvPr/>
        </p:nvSpPr>
        <p:spPr>
          <a:xfrm>
            <a:off x="4864608" y="2176272"/>
            <a:ext cx="2834640" cy="384048"/>
          </a:xfrm>
          <a:prstGeom prst="rect">
            <a:avLst/>
          </a:prstGeom>
          <a:noFill/>
          <a:ln/>
        </p:spPr>
        <p:txBody>
          <a:bodyPr wrap="square" lIns="0" tIns="0" rIns="0" bIns="0" rtlCol="0" anchor="ctr"/>
          <a:lstStyle/>
          <a:p>
            <a:pPr indent="0" marL="0">
              <a:buNone/>
            </a:pPr>
            <a:r>
              <a:rPr lang="en-US" sz="1800" b="1" dirty="0">
                <a:solidFill>
                  <a:schemeClr val="tx1"/>
                </a:solidFill>
              </a:rPr>
              <a:t>Back office</a:t>
            </a:r>
            <a:endParaRPr lang="en-US" sz="1800" dirty="0"/>
          </a:p>
        </p:txBody>
      </p:sp>
      <p:sp>
        <p:nvSpPr>
          <p:cNvPr id="11" name="Text 9"/>
          <p:cNvSpPr txBox="1"/>
          <p:nvPr/>
        </p:nvSpPr>
        <p:spPr>
          <a:xfrm>
            <a:off x="4544568" y="2697480"/>
            <a:ext cx="3108960" cy="155448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Gestion des produits, des commandes et de leur statut, des clients.</a:t>
            </a:r>
            <a:endParaRPr lang="en-US" sz="1800" dirty="0"/>
          </a:p>
        </p:txBody>
      </p:sp>
      <p:sp>
        <p:nvSpPr>
          <p:cNvPr id="12" name="carte-Contraintes"/>
          <p:cNvSpPr/>
          <p:nvPr/>
        </p:nvSpPr>
        <p:spPr>
          <a:xfrm>
            <a:off x="8083296" y="2011680"/>
            <a:ext cx="3566160" cy="2377440"/>
          </a:xfrm>
          <a:prstGeom prst="roundRect">
            <a:avLst>
              <a:gd name="adj" fmla="val 4615"/>
            </a:avLst>
          </a:prstGeom>
          <a:solidFill>
            <a:schemeClr val="bg2"/>
          </a:solidFill>
          <a:ln w="12700">
            <a:solidFill>
              <a:schemeClr val="bg2"/>
            </a:solidFill>
            <a:prstDash val="solid"/>
          </a:ln>
        </p:spPr>
      </p:sp>
      <p:sp>
        <p:nvSpPr>
          <p:cNvPr id="13" name="pastille-Contraintes"/>
          <p:cNvSpPr/>
          <p:nvPr/>
        </p:nvSpPr>
        <p:spPr>
          <a:xfrm>
            <a:off x="8311896" y="2267712"/>
            <a:ext cx="201168" cy="201168"/>
          </a:xfrm>
          <a:prstGeom prst="ellipse">
            <a:avLst/>
          </a:prstGeom>
          <a:solidFill>
            <a:schemeClr val="accent3"/>
          </a:solidFill>
          <a:ln w="12700">
            <a:solidFill>
              <a:schemeClr val="accent3"/>
            </a:solidFill>
            <a:prstDash val="solid"/>
          </a:ln>
        </p:spPr>
      </p:sp>
      <p:sp>
        <p:nvSpPr>
          <p:cNvPr id="14" name="Text 12"/>
          <p:cNvSpPr txBox="1"/>
          <p:nvPr/>
        </p:nvSpPr>
        <p:spPr>
          <a:xfrm>
            <a:off x="8631936" y="2176272"/>
            <a:ext cx="2834640" cy="384048"/>
          </a:xfrm>
          <a:prstGeom prst="rect">
            <a:avLst/>
          </a:prstGeom>
          <a:noFill/>
          <a:ln/>
        </p:spPr>
        <p:txBody>
          <a:bodyPr wrap="square" lIns="0" tIns="0" rIns="0" bIns="0" rtlCol="0" anchor="ctr"/>
          <a:lstStyle/>
          <a:p>
            <a:pPr indent="0" marL="0">
              <a:buNone/>
            </a:pPr>
            <a:r>
              <a:rPr lang="en-US" sz="1800" b="1" dirty="0">
                <a:solidFill>
                  <a:schemeClr val="tx1"/>
                </a:solidFill>
              </a:rPr>
              <a:t>Contraintes</a:t>
            </a:r>
            <a:endParaRPr lang="en-US" sz="1800" dirty="0"/>
          </a:p>
        </p:txBody>
      </p:sp>
      <p:sp>
        <p:nvSpPr>
          <p:cNvPr id="15" name="Text 13"/>
          <p:cNvSpPr txBox="1"/>
          <p:nvPr/>
        </p:nvSpPr>
        <p:spPr>
          <a:xfrm>
            <a:off x="8311896" y="2697480"/>
            <a:ext cx="3108960" cy="155448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Symfony et Twig imposés, données validées, site sécurisé, responsive et mis en ligne.</a:t>
            </a:r>
            <a:endParaRPr lang="en-US" sz="1800" dirty="0"/>
          </a:p>
        </p:txBody>
      </p:sp>
      <p:sp>
        <p:nvSpPr>
          <p:cNvPr id="16" name="Text 14"/>
          <p:cNvSpPr txBox="1"/>
          <p:nvPr/>
        </p:nvSpPr>
        <p:spPr>
          <a:xfrm>
            <a:off x="548640" y="4800600"/>
            <a:ext cx="11064240" cy="457200"/>
          </a:xfrm>
          <a:prstGeom prst="rect">
            <a:avLst/>
          </a:prstGeom>
          <a:noFill/>
          <a:ln/>
        </p:spPr>
        <p:txBody>
          <a:bodyPr wrap="square" lIns="0" tIns="0" rIns="0" bIns="0" rtlCol="0" anchor="ctr"/>
          <a:lstStyle/>
          <a:p>
            <a:pPr indent="0" marL="0">
              <a:buNone/>
            </a:pPr>
            <a:r>
              <a:rPr lang="en-US" sz="1600" i="1" dirty="0">
                <a:solidFill>
                  <a:schemeClr val="accent4"/>
                </a:solidFill>
              </a:rPr>
              <a:t>Livrables : backlog, diagramme de classes, Kanban, dépôt GitHub documenté, site en ligne.</a:t>
            </a:r>
            <a:endParaRPr lang="en-US" sz="16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Les 8 compétences du titre dans InnovShop</a:t>
            </a:r>
            <a:endParaRPr lang="en-US" sz="3200" dirty="0"/>
          </a:p>
        </p:txBody>
      </p:sp>
      <p:sp>
        <p:nvSpPr>
          <p:cNvPr id="3" name="Text 1"/>
          <p:cNvSpPr txBox="1"/>
          <p:nvPr/>
        </p:nvSpPr>
        <p:spPr>
          <a:xfrm>
            <a:off x="548640" y="1234440"/>
            <a:ext cx="5486400" cy="411480"/>
          </a:xfrm>
          <a:prstGeom prst="rect">
            <a:avLst/>
          </a:prstGeom>
          <a:noFill/>
          <a:ln/>
        </p:spPr>
        <p:txBody>
          <a:bodyPr wrap="square" lIns="0" tIns="0" rIns="0" bIns="0" rtlCol="0" anchor="ctr"/>
          <a:lstStyle/>
          <a:p>
            <a:pPr indent="0" marL="0">
              <a:buNone/>
            </a:pPr>
            <a:r>
              <a:rPr lang="en-US" sz="1800" b="1" dirty="0">
                <a:solidFill>
                  <a:schemeClr val="accent1"/>
                </a:solidFill>
              </a:rPr>
              <a:t>Front-end</a:t>
            </a:r>
            <a:endParaRPr lang="en-US" sz="1800" dirty="0"/>
          </a:p>
        </p:txBody>
      </p:sp>
      <p:sp>
        <p:nvSpPr>
          <p:cNvPr id="4" name="Text 2"/>
          <p:cNvSpPr txBox="1"/>
          <p:nvPr/>
        </p:nvSpPr>
        <p:spPr>
          <a:xfrm>
            <a:off x="6217920" y="1234440"/>
            <a:ext cx="5486400" cy="411480"/>
          </a:xfrm>
          <a:prstGeom prst="rect">
            <a:avLst/>
          </a:prstGeom>
          <a:noFill/>
          <a:ln/>
        </p:spPr>
        <p:txBody>
          <a:bodyPr wrap="square" lIns="0" tIns="0" rIns="0" bIns="0" rtlCol="0" anchor="ctr"/>
          <a:lstStyle/>
          <a:p>
            <a:pPr indent="0" marL="0">
              <a:buNone/>
            </a:pPr>
            <a:r>
              <a:rPr lang="en-US" sz="1800" b="1" dirty="0">
                <a:solidFill>
                  <a:schemeClr val="accent3"/>
                </a:solidFill>
              </a:rPr>
              <a:t>Back-end</a:t>
            </a:r>
            <a:endParaRPr lang="en-US" sz="1800" dirty="0"/>
          </a:p>
        </p:txBody>
      </p:sp>
      <p:sp>
        <p:nvSpPr>
          <p:cNvPr id="5" name="cp-1"/>
          <p:cNvSpPr/>
          <p:nvPr/>
        </p:nvSpPr>
        <p:spPr>
          <a:xfrm>
            <a:off x="548640" y="1737360"/>
            <a:ext cx="5394960" cy="914400"/>
          </a:xfrm>
          <a:prstGeom prst="roundRect">
            <a:avLst>
              <a:gd name="adj" fmla="val 10000"/>
            </a:avLst>
          </a:prstGeom>
          <a:solidFill>
            <a:schemeClr val="bg2"/>
          </a:solidFill>
          <a:ln w="12700">
            <a:solidFill>
              <a:schemeClr val="bg2"/>
            </a:solidFill>
            <a:prstDash val="solid"/>
          </a:ln>
        </p:spPr>
      </p:sp>
      <p:sp>
        <p:nvSpPr>
          <p:cNvPr id="6" name="cp-num-1"/>
          <p:cNvSpPr/>
          <p:nvPr/>
        </p:nvSpPr>
        <p:spPr>
          <a:xfrm>
            <a:off x="731520" y="1920240"/>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73152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1463040" y="1828800"/>
            <a:ext cx="4389120" cy="731520"/>
          </a:xfrm>
          <a:prstGeom prst="rect">
            <a:avLst/>
          </a:prstGeom>
          <a:noFill/>
          <a:ln/>
        </p:spPr>
        <p:txBody>
          <a:bodyPr wrap="square" lIns="0" tIns="0" rIns="0" bIns="0" rtlCol="0" anchor="ctr"/>
          <a:lstStyle/>
          <a:p>
            <a:pPr indent="0" marL="0">
              <a:buNone/>
            </a:pPr>
            <a:r>
              <a:rPr lang="en-US" sz="1700" b="1" dirty="0">
                <a:solidFill>
                  <a:schemeClr val="tx1"/>
                </a:solidFill>
              </a:rPr>
              <a:t>Environnement de travail</a:t>
            </a:r>
            <a:endParaRPr lang="en-US" sz="1700" dirty="0"/>
          </a:p>
          <a:p>
            <a:pPr indent="0" marL="0">
              <a:buNone/>
            </a:pPr>
            <a:r>
              <a:rPr lang="en-US" sz="1400" dirty="0">
                <a:solidFill>
                  <a:schemeClr val="tx2"/>
                </a:solidFill>
              </a:rPr>
              <a:t>Linux, PHP 8.2, Symfony CLI, Git</a:t>
            </a:r>
            <a:endParaRPr lang="en-US" sz="1700" dirty="0"/>
          </a:p>
        </p:txBody>
      </p:sp>
      <p:sp>
        <p:nvSpPr>
          <p:cNvPr id="9" name="cp-2"/>
          <p:cNvSpPr/>
          <p:nvPr/>
        </p:nvSpPr>
        <p:spPr>
          <a:xfrm>
            <a:off x="548640" y="2834640"/>
            <a:ext cx="5394960" cy="914400"/>
          </a:xfrm>
          <a:prstGeom prst="roundRect">
            <a:avLst>
              <a:gd name="adj" fmla="val 10000"/>
            </a:avLst>
          </a:prstGeom>
          <a:solidFill>
            <a:schemeClr val="bg2"/>
          </a:solidFill>
          <a:ln w="12700">
            <a:solidFill>
              <a:schemeClr val="bg2"/>
            </a:solidFill>
            <a:prstDash val="solid"/>
          </a:ln>
        </p:spPr>
      </p:sp>
      <p:sp>
        <p:nvSpPr>
          <p:cNvPr id="10" name="cp-num-2"/>
          <p:cNvSpPr/>
          <p:nvPr/>
        </p:nvSpPr>
        <p:spPr>
          <a:xfrm>
            <a:off x="731520" y="301752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731520" y="3017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1463040" y="2926080"/>
            <a:ext cx="4389120" cy="731520"/>
          </a:xfrm>
          <a:prstGeom prst="rect">
            <a:avLst/>
          </a:prstGeom>
          <a:noFill/>
          <a:ln/>
        </p:spPr>
        <p:txBody>
          <a:bodyPr wrap="square" lIns="0" tIns="0" rIns="0" bIns="0" rtlCol="0" anchor="ctr"/>
          <a:lstStyle/>
          <a:p>
            <a:pPr indent="0" marL="0">
              <a:buNone/>
            </a:pPr>
            <a:r>
              <a:rPr lang="en-US" sz="1700" b="1" dirty="0">
                <a:solidFill>
                  <a:schemeClr val="tx1"/>
                </a:solidFill>
              </a:rPr>
              <a:t>Maquetter</a:t>
            </a:r>
            <a:endParaRPr lang="en-US" sz="1700" dirty="0"/>
          </a:p>
          <a:p>
            <a:pPr indent="0" marL="0">
              <a:buNone/>
            </a:pPr>
            <a:r>
              <a:rPr lang="en-US" sz="1400" dirty="0">
                <a:solidFill>
                  <a:schemeClr val="tx2"/>
                </a:solidFill>
              </a:rPr>
              <a:t>Parcours d’achat, mobile first</a:t>
            </a:r>
            <a:endParaRPr lang="en-US" sz="1700" dirty="0"/>
          </a:p>
        </p:txBody>
      </p:sp>
      <p:sp>
        <p:nvSpPr>
          <p:cNvPr id="13" name="cp-3"/>
          <p:cNvSpPr/>
          <p:nvPr/>
        </p:nvSpPr>
        <p:spPr>
          <a:xfrm>
            <a:off x="548640" y="3931920"/>
            <a:ext cx="5394960" cy="914400"/>
          </a:xfrm>
          <a:prstGeom prst="roundRect">
            <a:avLst>
              <a:gd name="adj" fmla="val 10000"/>
            </a:avLst>
          </a:prstGeom>
          <a:solidFill>
            <a:schemeClr val="bg2"/>
          </a:solidFill>
          <a:ln w="12700">
            <a:solidFill>
              <a:schemeClr val="bg2"/>
            </a:solidFill>
            <a:prstDash val="solid"/>
          </a:ln>
        </p:spPr>
      </p:sp>
      <p:sp>
        <p:nvSpPr>
          <p:cNvPr id="14" name="cp-num-3"/>
          <p:cNvSpPr/>
          <p:nvPr/>
        </p:nvSpPr>
        <p:spPr>
          <a:xfrm>
            <a:off x="731520" y="411480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463040" y="4023360"/>
            <a:ext cx="4389120" cy="731520"/>
          </a:xfrm>
          <a:prstGeom prst="rect">
            <a:avLst/>
          </a:prstGeom>
          <a:noFill/>
          <a:ln/>
        </p:spPr>
        <p:txBody>
          <a:bodyPr wrap="square" lIns="0" tIns="0" rIns="0" bIns="0" rtlCol="0" anchor="ctr"/>
          <a:lstStyle/>
          <a:p>
            <a:pPr indent="0" marL="0">
              <a:buNone/>
            </a:pPr>
            <a:r>
              <a:rPr lang="en-US" sz="1700" b="1" dirty="0">
                <a:solidFill>
                  <a:schemeClr val="tx1"/>
                </a:solidFill>
              </a:rPr>
              <a:t>Interfaces statiques</a:t>
            </a:r>
            <a:endParaRPr lang="en-US" sz="1700" dirty="0"/>
          </a:p>
          <a:p>
            <a:pPr indent="0" marL="0">
              <a:buNone/>
            </a:pPr>
            <a:r>
              <a:rPr lang="en-US" sz="1400" dirty="0">
                <a:solidFill>
                  <a:schemeClr val="tx2"/>
                </a:solidFill>
              </a:rPr>
              <a:t>Twig, Bootstrap, accessibilité</a:t>
            </a:r>
            <a:endParaRPr lang="en-US" sz="1700" dirty="0"/>
          </a:p>
        </p:txBody>
      </p:sp>
      <p:sp>
        <p:nvSpPr>
          <p:cNvPr id="17" name="cp-4"/>
          <p:cNvSpPr/>
          <p:nvPr/>
        </p:nvSpPr>
        <p:spPr>
          <a:xfrm>
            <a:off x="548640" y="5029200"/>
            <a:ext cx="5394960" cy="914400"/>
          </a:xfrm>
          <a:prstGeom prst="roundRect">
            <a:avLst>
              <a:gd name="adj" fmla="val 10000"/>
            </a:avLst>
          </a:prstGeom>
          <a:solidFill>
            <a:schemeClr val="bg2"/>
          </a:solidFill>
          <a:ln w="12700">
            <a:solidFill>
              <a:schemeClr val="bg2"/>
            </a:solidFill>
            <a:prstDash val="solid"/>
          </a:ln>
        </p:spPr>
      </p:sp>
      <p:sp>
        <p:nvSpPr>
          <p:cNvPr id="18" name="cp-num-4"/>
          <p:cNvSpPr/>
          <p:nvPr/>
        </p:nvSpPr>
        <p:spPr>
          <a:xfrm>
            <a:off x="731520" y="5212080"/>
            <a:ext cx="548640" cy="548640"/>
          </a:xfrm>
          <a:prstGeom prst="ellipse">
            <a:avLst/>
          </a:prstGeom>
          <a:solidFill>
            <a:schemeClr val="accent1"/>
          </a:solidFill>
          <a:ln w="12700">
            <a:solidFill>
              <a:schemeClr val="accent1"/>
            </a:solidFill>
            <a:prstDash val="solid"/>
          </a:ln>
        </p:spPr>
      </p:sp>
      <p:sp>
        <p:nvSpPr>
          <p:cNvPr id="19" name="Text 17"/>
          <p:cNvSpPr txBox="1"/>
          <p:nvPr/>
        </p:nvSpPr>
        <p:spPr>
          <a:xfrm>
            <a:off x="731520" y="5212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Text 18"/>
          <p:cNvSpPr txBox="1"/>
          <p:nvPr/>
        </p:nvSpPr>
        <p:spPr>
          <a:xfrm>
            <a:off x="1463040" y="5120640"/>
            <a:ext cx="4389120" cy="731520"/>
          </a:xfrm>
          <a:prstGeom prst="rect">
            <a:avLst/>
          </a:prstGeom>
          <a:noFill/>
          <a:ln/>
        </p:spPr>
        <p:txBody>
          <a:bodyPr wrap="square" lIns="0" tIns="0" rIns="0" bIns="0" rtlCol="0" anchor="ctr"/>
          <a:lstStyle/>
          <a:p>
            <a:pPr indent="0" marL="0">
              <a:buNone/>
            </a:pPr>
            <a:r>
              <a:rPr lang="en-US" sz="1700" b="1" dirty="0">
                <a:solidFill>
                  <a:schemeClr val="tx1"/>
                </a:solidFill>
              </a:rPr>
              <a:t>Partie dynamique</a:t>
            </a:r>
            <a:endParaRPr lang="en-US" sz="1700" dirty="0"/>
          </a:p>
          <a:p>
            <a:pPr indent="0" marL="0">
              <a:buNone/>
            </a:pPr>
            <a:r>
              <a:rPr lang="en-US" sz="1400" dirty="0">
                <a:solidFill>
                  <a:schemeClr val="tx2"/>
                </a:solidFill>
              </a:rPr>
              <a:t>Panier en AJAX avec fetch</a:t>
            </a:r>
            <a:endParaRPr lang="en-US" sz="1700" dirty="0"/>
          </a:p>
        </p:txBody>
      </p:sp>
      <p:sp>
        <p:nvSpPr>
          <p:cNvPr id="21" name="cp-5"/>
          <p:cNvSpPr/>
          <p:nvPr/>
        </p:nvSpPr>
        <p:spPr>
          <a:xfrm>
            <a:off x="6217920" y="1737360"/>
            <a:ext cx="5394960" cy="914400"/>
          </a:xfrm>
          <a:prstGeom prst="roundRect">
            <a:avLst>
              <a:gd name="adj" fmla="val 10000"/>
            </a:avLst>
          </a:prstGeom>
          <a:solidFill>
            <a:schemeClr val="bg2"/>
          </a:solidFill>
          <a:ln w="12700">
            <a:solidFill>
              <a:schemeClr val="bg2"/>
            </a:solidFill>
            <a:prstDash val="solid"/>
          </a:ln>
        </p:spPr>
      </p:sp>
      <p:sp>
        <p:nvSpPr>
          <p:cNvPr id="22" name="cp-num-5"/>
          <p:cNvSpPr/>
          <p:nvPr/>
        </p:nvSpPr>
        <p:spPr>
          <a:xfrm>
            <a:off x="6400800" y="1920240"/>
            <a:ext cx="548640" cy="548640"/>
          </a:xfrm>
          <a:prstGeom prst="ellipse">
            <a:avLst/>
          </a:prstGeom>
          <a:solidFill>
            <a:schemeClr val="accent3"/>
          </a:solidFill>
          <a:ln w="12700">
            <a:solidFill>
              <a:schemeClr val="accent3"/>
            </a:solidFill>
            <a:prstDash val="solid"/>
          </a:ln>
        </p:spPr>
      </p:sp>
      <p:sp>
        <p:nvSpPr>
          <p:cNvPr id="23" name="Text 21"/>
          <p:cNvSpPr txBox="1"/>
          <p:nvPr/>
        </p:nvSpPr>
        <p:spPr>
          <a:xfrm>
            <a:off x="640080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Text 22"/>
          <p:cNvSpPr txBox="1"/>
          <p:nvPr/>
        </p:nvSpPr>
        <p:spPr>
          <a:xfrm>
            <a:off x="7132320" y="1828800"/>
            <a:ext cx="4389120" cy="731520"/>
          </a:xfrm>
          <a:prstGeom prst="rect">
            <a:avLst/>
          </a:prstGeom>
          <a:noFill/>
          <a:ln/>
        </p:spPr>
        <p:txBody>
          <a:bodyPr wrap="square" lIns="0" tIns="0" rIns="0" bIns="0" rtlCol="0" anchor="ctr"/>
          <a:lstStyle/>
          <a:p>
            <a:pPr indent="0" marL="0">
              <a:buNone/>
            </a:pPr>
            <a:r>
              <a:rPr lang="en-US" sz="1700" b="1" dirty="0">
                <a:solidFill>
                  <a:schemeClr val="tx1"/>
                </a:solidFill>
              </a:rPr>
              <a:t>Base de données</a:t>
            </a:r>
            <a:endParaRPr lang="en-US" sz="1700" dirty="0"/>
          </a:p>
          <a:p>
            <a:pPr indent="0" marL="0">
              <a:buNone/>
            </a:pPr>
            <a:r>
              <a:rPr lang="en-US" sz="1400" dirty="0">
                <a:solidFill>
                  <a:schemeClr val="tx2"/>
                </a:solidFill>
              </a:rPr>
              <a:t>7 entités Doctrine, migrations</a:t>
            </a:r>
            <a:endParaRPr lang="en-US" sz="1700" dirty="0"/>
          </a:p>
        </p:txBody>
      </p:sp>
      <p:sp>
        <p:nvSpPr>
          <p:cNvPr id="25" name="cp-6"/>
          <p:cNvSpPr/>
          <p:nvPr/>
        </p:nvSpPr>
        <p:spPr>
          <a:xfrm>
            <a:off x="6217920" y="2834640"/>
            <a:ext cx="5394960" cy="914400"/>
          </a:xfrm>
          <a:prstGeom prst="roundRect">
            <a:avLst>
              <a:gd name="adj" fmla="val 10000"/>
            </a:avLst>
          </a:prstGeom>
          <a:solidFill>
            <a:schemeClr val="bg2"/>
          </a:solidFill>
          <a:ln w="12700">
            <a:solidFill>
              <a:schemeClr val="bg2"/>
            </a:solidFill>
            <a:prstDash val="solid"/>
          </a:ln>
        </p:spPr>
      </p:sp>
      <p:sp>
        <p:nvSpPr>
          <p:cNvPr id="26" name="cp-num-6"/>
          <p:cNvSpPr/>
          <p:nvPr/>
        </p:nvSpPr>
        <p:spPr>
          <a:xfrm>
            <a:off x="6400800" y="3017520"/>
            <a:ext cx="548640" cy="548640"/>
          </a:xfrm>
          <a:prstGeom prst="ellipse">
            <a:avLst/>
          </a:prstGeom>
          <a:solidFill>
            <a:schemeClr val="accent3"/>
          </a:solidFill>
          <a:ln w="12700">
            <a:solidFill>
              <a:schemeClr val="accent3"/>
            </a:solidFill>
            <a:prstDash val="solid"/>
          </a:ln>
        </p:spPr>
      </p:sp>
      <p:sp>
        <p:nvSpPr>
          <p:cNvPr id="27" name="Text 25"/>
          <p:cNvSpPr txBox="1"/>
          <p:nvPr/>
        </p:nvSpPr>
        <p:spPr>
          <a:xfrm>
            <a:off x="6400800" y="3017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8" name="Text 26"/>
          <p:cNvSpPr txBox="1"/>
          <p:nvPr/>
        </p:nvSpPr>
        <p:spPr>
          <a:xfrm>
            <a:off x="7132320" y="2926080"/>
            <a:ext cx="4389120" cy="731520"/>
          </a:xfrm>
          <a:prstGeom prst="rect">
            <a:avLst/>
          </a:prstGeom>
          <a:noFill/>
          <a:ln/>
        </p:spPr>
        <p:txBody>
          <a:bodyPr wrap="square" lIns="0" tIns="0" rIns="0" bIns="0" rtlCol="0" anchor="ctr"/>
          <a:lstStyle/>
          <a:p>
            <a:pPr indent="0" marL="0">
              <a:buNone/>
            </a:pPr>
            <a:r>
              <a:rPr lang="en-US" sz="1700" b="1" dirty="0">
                <a:solidFill>
                  <a:schemeClr val="tx1"/>
                </a:solidFill>
              </a:rPr>
              <a:t>Accès aux données</a:t>
            </a:r>
            <a:endParaRPr lang="en-US" sz="1700" dirty="0"/>
          </a:p>
          <a:p>
            <a:pPr indent="0" marL="0">
              <a:buNone/>
            </a:pPr>
            <a:r>
              <a:rPr lang="en-US" sz="1400" dirty="0">
                <a:solidFill>
                  <a:schemeClr val="tx2"/>
                </a:solidFill>
              </a:rPr>
              <a:t>QueryBuilder, requêtes préparées</a:t>
            </a:r>
            <a:endParaRPr lang="en-US" sz="1700" dirty="0"/>
          </a:p>
        </p:txBody>
      </p:sp>
      <p:sp>
        <p:nvSpPr>
          <p:cNvPr id="29" name="cp-7"/>
          <p:cNvSpPr/>
          <p:nvPr/>
        </p:nvSpPr>
        <p:spPr>
          <a:xfrm>
            <a:off x="6217920" y="3931920"/>
            <a:ext cx="5394960" cy="914400"/>
          </a:xfrm>
          <a:prstGeom prst="roundRect">
            <a:avLst>
              <a:gd name="adj" fmla="val 10000"/>
            </a:avLst>
          </a:prstGeom>
          <a:solidFill>
            <a:schemeClr val="bg2"/>
          </a:solidFill>
          <a:ln w="12700">
            <a:solidFill>
              <a:schemeClr val="bg2"/>
            </a:solidFill>
            <a:prstDash val="solid"/>
          </a:ln>
        </p:spPr>
      </p:sp>
      <p:sp>
        <p:nvSpPr>
          <p:cNvPr id="30" name="cp-num-7"/>
          <p:cNvSpPr/>
          <p:nvPr/>
        </p:nvSpPr>
        <p:spPr>
          <a:xfrm>
            <a:off x="6400800" y="4114800"/>
            <a:ext cx="548640" cy="548640"/>
          </a:xfrm>
          <a:prstGeom prst="ellipse">
            <a:avLst/>
          </a:prstGeom>
          <a:solidFill>
            <a:schemeClr val="accent3"/>
          </a:solidFill>
          <a:ln w="12700">
            <a:solidFill>
              <a:schemeClr val="accent3"/>
            </a:solidFill>
            <a:prstDash val="solid"/>
          </a:ln>
        </p:spPr>
      </p:sp>
      <p:sp>
        <p:nvSpPr>
          <p:cNvPr id="31" name="Text 29"/>
          <p:cNvSpPr txBox="1"/>
          <p:nvPr/>
        </p:nvSpPr>
        <p:spPr>
          <a:xfrm>
            <a:off x="6400800" y="41148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2" name="Text 30"/>
          <p:cNvSpPr txBox="1"/>
          <p:nvPr/>
        </p:nvSpPr>
        <p:spPr>
          <a:xfrm>
            <a:off x="7132320" y="4023360"/>
            <a:ext cx="4389120" cy="731520"/>
          </a:xfrm>
          <a:prstGeom prst="rect">
            <a:avLst/>
          </a:prstGeom>
          <a:noFill/>
          <a:ln/>
        </p:spPr>
        <p:txBody>
          <a:bodyPr wrap="square" lIns="0" tIns="0" rIns="0" bIns="0" rtlCol="0" anchor="ctr"/>
          <a:lstStyle/>
          <a:p>
            <a:pPr indent="0" marL="0">
              <a:buNone/>
            </a:pPr>
            <a:r>
              <a:rPr lang="en-US" sz="1700" b="1" dirty="0">
                <a:solidFill>
                  <a:schemeClr val="tx1"/>
                </a:solidFill>
              </a:rPr>
              <a:t>Composants métier</a:t>
            </a:r>
            <a:endParaRPr lang="en-US" sz="1700" dirty="0"/>
          </a:p>
          <a:p>
            <a:pPr indent="0" marL="0">
              <a:buNone/>
            </a:pPr>
            <a:r>
              <a:rPr lang="en-US" sz="1400" dirty="0">
                <a:solidFill>
                  <a:schemeClr val="tx2"/>
                </a:solidFill>
              </a:rPr>
              <a:t>Panier, commande, emails, PDF</a:t>
            </a:r>
            <a:endParaRPr lang="en-US" sz="1700" dirty="0"/>
          </a:p>
        </p:txBody>
      </p:sp>
      <p:sp>
        <p:nvSpPr>
          <p:cNvPr id="33" name="cp-8"/>
          <p:cNvSpPr/>
          <p:nvPr/>
        </p:nvSpPr>
        <p:spPr>
          <a:xfrm>
            <a:off x="6217920" y="5029200"/>
            <a:ext cx="5394960" cy="914400"/>
          </a:xfrm>
          <a:prstGeom prst="roundRect">
            <a:avLst>
              <a:gd name="adj" fmla="val 10000"/>
            </a:avLst>
          </a:prstGeom>
          <a:solidFill>
            <a:schemeClr val="bg2"/>
          </a:solidFill>
          <a:ln w="12700">
            <a:solidFill>
              <a:schemeClr val="bg2"/>
            </a:solidFill>
            <a:prstDash val="solid"/>
          </a:ln>
        </p:spPr>
      </p:sp>
      <p:sp>
        <p:nvSpPr>
          <p:cNvPr id="34" name="cp-num-8"/>
          <p:cNvSpPr/>
          <p:nvPr/>
        </p:nvSpPr>
        <p:spPr>
          <a:xfrm>
            <a:off x="6400800" y="5212080"/>
            <a:ext cx="548640" cy="548640"/>
          </a:xfrm>
          <a:prstGeom prst="ellipse">
            <a:avLst/>
          </a:prstGeom>
          <a:solidFill>
            <a:schemeClr val="accent3"/>
          </a:solidFill>
          <a:ln w="12700">
            <a:solidFill>
              <a:schemeClr val="accent3"/>
            </a:solidFill>
            <a:prstDash val="solid"/>
          </a:ln>
        </p:spPr>
      </p:sp>
      <p:sp>
        <p:nvSpPr>
          <p:cNvPr id="35" name="Text 33"/>
          <p:cNvSpPr txBox="1"/>
          <p:nvPr/>
        </p:nvSpPr>
        <p:spPr>
          <a:xfrm>
            <a:off x="6400800" y="5212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36" name="Text 34"/>
          <p:cNvSpPr txBox="1"/>
          <p:nvPr/>
        </p:nvSpPr>
        <p:spPr>
          <a:xfrm>
            <a:off x="7132320" y="5120640"/>
            <a:ext cx="4389120" cy="731520"/>
          </a:xfrm>
          <a:prstGeom prst="rect">
            <a:avLst/>
          </a:prstGeom>
          <a:noFill/>
          <a:ln/>
        </p:spPr>
        <p:txBody>
          <a:bodyPr wrap="square" lIns="0" tIns="0" rIns="0" bIns="0" rtlCol="0" anchor="ctr"/>
          <a:lstStyle/>
          <a:p>
            <a:pPr indent="0" marL="0">
              <a:buNone/>
            </a:pPr>
            <a:r>
              <a:rPr lang="en-US" sz="1700" b="1" dirty="0">
                <a:solidFill>
                  <a:schemeClr val="tx1"/>
                </a:solidFill>
              </a:rPr>
              <a:t>Déploiement</a:t>
            </a:r>
            <a:endParaRPr lang="en-US" sz="1700" dirty="0"/>
          </a:p>
          <a:p>
            <a:pPr indent="0" marL="0">
              <a:buNone/>
            </a:pPr>
            <a:r>
              <a:rPr lang="en-US" sz="1400" dirty="0">
                <a:solidFill>
                  <a:schemeClr val="tx2"/>
                </a:solidFill>
              </a:rPr>
              <a:t>Alwaysdata, README</a:t>
            </a:r>
            <a:endParaRPr lang="en-US" sz="17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Organisation : 42 user stories et un Kanban</a:t>
            </a:r>
            <a:endParaRPr lang="en-US" sz="3200" dirty="0"/>
          </a:p>
        </p:txBody>
      </p:sp>
      <p:sp>
        <p:nvSpPr>
          <p:cNvPr id="3" name="Text 1"/>
          <p:cNvSpPr txBox="1"/>
          <p:nvPr/>
        </p:nvSpPr>
        <p:spPr>
          <a:xfrm>
            <a:off x="548640" y="1463040"/>
            <a:ext cx="3291840" cy="1005840"/>
          </a:xfrm>
          <a:prstGeom prst="rect">
            <a:avLst/>
          </a:prstGeom>
          <a:noFill/>
          <a:ln/>
        </p:spPr>
        <p:txBody>
          <a:bodyPr wrap="square" lIns="0" tIns="0" rIns="0" bIns="0" rtlCol="0" anchor="ctr"/>
          <a:lstStyle/>
          <a:p>
            <a:pPr algn="ctr" indent="0" marL="0">
              <a:buNone/>
            </a:pPr>
            <a:r>
              <a:rPr lang="en-US" sz="6000" b="1" dirty="0">
                <a:solidFill>
                  <a:schemeClr val="accent1"/>
                </a:solidFill>
              </a:rPr>
              <a:t>42</a:t>
            </a:r>
            <a:endParaRPr lang="en-US" sz="6000" dirty="0"/>
          </a:p>
        </p:txBody>
      </p:sp>
      <p:sp>
        <p:nvSpPr>
          <p:cNvPr id="4" name="Text 2"/>
          <p:cNvSpPr txBox="1"/>
          <p:nvPr/>
        </p:nvSpPr>
        <p:spPr>
          <a:xfrm>
            <a:off x="548640" y="2468880"/>
            <a:ext cx="3291840" cy="457200"/>
          </a:xfrm>
          <a:prstGeom prst="rect">
            <a:avLst/>
          </a:prstGeom>
          <a:noFill/>
          <a:ln/>
        </p:spPr>
        <p:txBody>
          <a:bodyPr wrap="square" lIns="0" tIns="0" rIns="0" bIns="0" rtlCol="0" anchor="t"/>
          <a:lstStyle/>
          <a:p>
            <a:pPr algn="ctr" indent="0" marL="0">
              <a:buNone/>
            </a:pPr>
            <a:r>
              <a:rPr lang="en-US" sz="1500" dirty="0">
                <a:solidFill>
                  <a:schemeClr val="tx2"/>
                </a:solidFill>
              </a:rPr>
              <a:t>user stories dans le backlog</a:t>
            </a:r>
            <a:endParaRPr lang="en-US" sz="1500" dirty="0"/>
          </a:p>
        </p:txBody>
      </p:sp>
      <p:sp>
        <p:nvSpPr>
          <p:cNvPr id="5" name="Text 3"/>
          <p:cNvSpPr txBox="1"/>
          <p:nvPr/>
        </p:nvSpPr>
        <p:spPr>
          <a:xfrm>
            <a:off x="548640" y="3200400"/>
            <a:ext cx="3291840" cy="1005840"/>
          </a:xfrm>
          <a:prstGeom prst="rect">
            <a:avLst/>
          </a:prstGeom>
          <a:noFill/>
          <a:ln/>
        </p:spPr>
        <p:txBody>
          <a:bodyPr wrap="square" lIns="0" tIns="0" rIns="0" bIns="0" rtlCol="0" anchor="ctr"/>
          <a:lstStyle/>
          <a:p>
            <a:pPr algn="ctr" indent="0" marL="0">
              <a:buNone/>
            </a:pPr>
            <a:r>
              <a:rPr lang="en-US" sz="6000" b="1" dirty="0">
                <a:solidFill>
                  <a:schemeClr val="accent3"/>
                </a:solidFill>
              </a:rPr>
              <a:t>41</a:t>
            </a:r>
            <a:endParaRPr lang="en-US" sz="6000" dirty="0"/>
          </a:p>
        </p:txBody>
      </p:sp>
      <p:sp>
        <p:nvSpPr>
          <p:cNvPr id="6" name="Text 4"/>
          <p:cNvSpPr txBox="1"/>
          <p:nvPr/>
        </p:nvSpPr>
        <p:spPr>
          <a:xfrm>
            <a:off x="548640" y="4206240"/>
            <a:ext cx="3291840" cy="457200"/>
          </a:xfrm>
          <a:prstGeom prst="rect">
            <a:avLst/>
          </a:prstGeom>
          <a:noFill/>
          <a:ln/>
        </p:spPr>
        <p:txBody>
          <a:bodyPr wrap="square" lIns="0" tIns="0" rIns="0" bIns="0" rtlCol="0" anchor="t"/>
          <a:lstStyle/>
          <a:p>
            <a:pPr algn="ctr" indent="0" marL="0">
              <a:buNone/>
            </a:pPr>
            <a:r>
              <a:rPr lang="en-US" sz="1500" dirty="0">
                <a:solidFill>
                  <a:schemeClr val="tx2"/>
                </a:solidFill>
              </a:rPr>
              <a:t>terminées (US37 écartée exprès)</a:t>
            </a:r>
            <a:endParaRPr lang="en-US" sz="1500" dirty="0"/>
          </a:p>
        </p:txBody>
      </p:sp>
      <p:sp>
        <p:nvSpPr>
          <p:cNvPr id="7" name="Text 5"/>
          <p:cNvSpPr txBox="1"/>
          <p:nvPr/>
        </p:nvSpPr>
        <p:spPr>
          <a:xfrm>
            <a:off x="548640" y="5029200"/>
            <a:ext cx="3291840" cy="914400"/>
          </a:xfrm>
          <a:prstGeom prst="rect">
            <a:avLst/>
          </a:prstGeom>
          <a:noFill/>
          <a:ln/>
        </p:spPr>
        <p:txBody>
          <a:bodyPr wrap="square" lIns="0" tIns="0" rIns="0" bIns="0" rtlCol="0" anchor="ctr"/>
          <a:lstStyle/>
          <a:p>
            <a:pPr indent="0" marL="0">
              <a:buNone/>
            </a:pPr>
            <a:r>
              <a:rPr lang="en-US" sz="1300" i="1" dirty="0">
                <a:solidFill>
                  <a:schemeClr val="accent4"/>
                </a:solidFill>
              </a:rPr>
              <a:t>« En tant que [rôle], je veux [fonctionnalité], afin de [objectif]. »</a:t>
            </a:r>
            <a:endParaRPr lang="en-US" sz="1300" dirty="0"/>
          </a:p>
        </p:txBody>
      </p:sp>
      <p:pic>
        <p:nvPicPr>
          <p:cNvPr id="8" name="img-trello.png" descr="trello.png">    </p:cNvPr>
          <p:cNvPicPr>
            <a:picLocks noChangeAspect="1"/>
          </p:cNvPicPr>
          <p:nvPr/>
        </p:nvPicPr>
        <p:blipFill>
          <a:blip r:embed="rId1"/>
          <a:stretch>
            <a:fillRect/>
          </a:stretch>
        </p:blipFill>
        <p:spPr>
          <a:xfrm>
            <a:off x="4206240" y="1895120"/>
            <a:ext cx="7406640" cy="3342080"/>
          </a:xfrm>
          <a:prstGeom prst="rect">
            <a:avLst/>
          </a:prstGeom>
        </p:spPr>
      </p:pic>
      <p:sp>
        <p:nvSpPr>
          <p:cNvPr id="9" name="cadre-trello.png"/>
          <p:cNvSpPr/>
          <p:nvPr/>
        </p:nvSpPr>
        <p:spPr>
          <a:xfrm>
            <a:off x="4206240" y="1895120"/>
            <a:ext cx="7406640" cy="3342080"/>
          </a:xfrm>
          <a:prstGeom prst="rect">
            <a:avLst/>
          </a:prstGeom>
          <a:ln w="9525">
            <a:solidFill>
              <a:srgbClr val="CED4DA"/>
            </a:solidFill>
            <a:prstDash val="solid"/>
          </a:ln>
        </p:spPr>
      </p:sp>
      <p:sp>
        <p:nvSpPr>
          <p:cNvPr id="10" name="Text 7"/>
          <p:cNvSpPr txBox="1"/>
          <p:nvPr/>
        </p:nvSpPr>
        <p:spPr>
          <a:xfrm>
            <a:off x="4206240" y="5852160"/>
            <a:ext cx="7406640" cy="320040"/>
          </a:xfrm>
          <a:prstGeom prst="rect">
            <a:avLst/>
          </a:prstGeom>
          <a:noFill/>
          <a:ln/>
        </p:spPr>
        <p:txBody>
          <a:bodyPr wrap="square" lIns="0" tIns="0" rIns="0" bIns="0" rtlCol="0" anchor="ctr"/>
          <a:lstStyle/>
          <a:p>
            <a:pPr algn="ctr" indent="0" marL="0">
              <a:buNone/>
            </a:pPr>
            <a:r>
              <a:rPr lang="en-US" sz="1200" i="1" dirty="0">
                <a:solidFill>
                  <a:schemeClr val="accent4"/>
                </a:solidFill>
              </a:rPr>
              <a:t>Tableau Trello : Backlog, À faire, En cours, Terminé</a:t>
            </a:r>
            <a:endParaRPr lang="en-US" sz="12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10698480" cy="731520"/>
          </a:xfrm>
          <a:prstGeom prst="rect">
            <a:avLst/>
          </a:prstGeom>
          <a:noFill/>
          <a:ln/>
        </p:spPr>
        <p:txBody>
          <a:bodyPr wrap="square" lIns="0" tIns="0" rIns="0" bIns="0" rtlCol="0" anchor="b"/>
          <a:lstStyle/>
          <a:p>
            <a:pPr indent="0" marL="0">
              <a:buNone/>
            </a:pPr>
            <a:r>
              <a:rPr lang="en-US" sz="2400" b="1" dirty="0">
                <a:solidFill>
                  <a:schemeClr val="accent2"/>
                </a:solidFill>
              </a:rPr>
              <a:t>Partie 2</a:t>
            </a:r>
            <a:endParaRPr lang="en-US" sz="2400" dirty="0"/>
          </a:p>
        </p:txBody>
      </p:sp>
      <p:sp>
        <p:nvSpPr>
          <p:cNvPr id="3" name="Text 0"/>
          <p:cNvSpPr/>
          <p:nvPr>
            <p:ph idx="100" type="title" hasCustomPrompt="1"/>
          </p:nvPr>
        </p:nvSpPr>
        <p:spPr>
          <a:xfrm>
            <a:off x="731520" y="2743200"/>
            <a:ext cx="10698480" cy="1097280"/>
          </a:xfrm>
          <a:prstGeom prst="rect">
            <a:avLst/>
          </a:prstGeom>
          <a:noFill/>
          <a:ln/>
        </p:spPr>
        <p:txBody>
          <a:bodyPr wrap="square" lIns="0" tIns="0" rIns="0" bIns="0" rtlCol="0" anchor="ctr"/>
          <a:lstStyle/>
          <a:p>
            <a:pPr algn="l" indent="0" marL="0">
              <a:buNone/>
            </a:pPr>
            <a:r>
              <a:rPr lang="en-US" sz="4400" b="1" dirty="0">
                <a:solidFill>
                  <a:schemeClr val="bg1"/>
                </a:solidFill>
              </a:rPr>
              <a:t>La conception</a:t>
            </a:r>
            <a:endParaRPr lang="en-US" sz="4400" dirty="0"/>
          </a:p>
        </p:txBody>
      </p:sp>
      <p:sp>
        <p:nvSpPr>
          <p:cNvPr id="25" name="Slide Number Placeholder 0"/>
          <p:cNvSpPr>
            <a:spLocks noGrp="1"/>
          </p:cNvSpPr>
          <p:nvPr>
            <p:ph type="sldNum" sz="quarter" idx="4294967295"/>
          </p:nvPr>
        </p:nvSpPr>
        <p:spPr>
          <a:xfrm>
            <a:off x="11247120"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Les technologies et pourquoi</a:t>
            </a:r>
            <a:endParaRPr lang="en-US" sz="3200" dirty="0"/>
          </a:p>
        </p:txBody>
      </p:sp>
      <p:sp>
        <p:nvSpPr>
          <p:cNvPr id="3" name="carte-Symfony 7.4 LTS"/>
          <p:cNvSpPr/>
          <p:nvPr/>
        </p:nvSpPr>
        <p:spPr>
          <a:xfrm>
            <a:off x="548640" y="1463040"/>
            <a:ext cx="3547872" cy="1965960"/>
          </a:xfrm>
          <a:prstGeom prst="roundRect">
            <a:avLst>
              <a:gd name="adj" fmla="val 5581"/>
            </a:avLst>
          </a:prstGeom>
          <a:solidFill>
            <a:schemeClr val="bg2"/>
          </a:solidFill>
          <a:ln w="12700">
            <a:solidFill>
              <a:schemeClr val="bg2"/>
            </a:solidFill>
            <a:prstDash val="solid"/>
          </a:ln>
        </p:spPr>
      </p:sp>
      <p:sp>
        <p:nvSpPr>
          <p:cNvPr id="4" name="pastille-Symfony 7.4 LTS"/>
          <p:cNvSpPr/>
          <p:nvPr/>
        </p:nvSpPr>
        <p:spPr>
          <a:xfrm>
            <a:off x="777240" y="1719072"/>
            <a:ext cx="201168" cy="201168"/>
          </a:xfrm>
          <a:prstGeom prst="ellipse">
            <a:avLst/>
          </a:prstGeom>
          <a:solidFill>
            <a:schemeClr val="accent1"/>
          </a:solidFill>
          <a:ln w="12700">
            <a:solidFill>
              <a:schemeClr val="accent1"/>
            </a:solidFill>
            <a:prstDash val="solid"/>
          </a:ln>
        </p:spPr>
      </p:sp>
      <p:sp>
        <p:nvSpPr>
          <p:cNvPr id="5" name="Text 3"/>
          <p:cNvSpPr txBox="1"/>
          <p:nvPr/>
        </p:nvSpPr>
        <p:spPr>
          <a:xfrm>
            <a:off x="1097280" y="1627632"/>
            <a:ext cx="2816352" cy="384048"/>
          </a:xfrm>
          <a:prstGeom prst="rect">
            <a:avLst/>
          </a:prstGeom>
          <a:noFill/>
          <a:ln/>
        </p:spPr>
        <p:txBody>
          <a:bodyPr wrap="square" lIns="0" tIns="0" rIns="0" bIns="0" rtlCol="0" anchor="ctr"/>
          <a:lstStyle/>
          <a:p>
            <a:pPr indent="0" marL="0">
              <a:buNone/>
            </a:pPr>
            <a:r>
              <a:rPr lang="en-US" sz="1800" b="1" dirty="0">
                <a:solidFill>
                  <a:schemeClr val="tx1"/>
                </a:solidFill>
              </a:rPr>
              <a:t>Symfony 7.4 LTS</a:t>
            </a:r>
            <a:endParaRPr lang="en-US" sz="1800" dirty="0"/>
          </a:p>
        </p:txBody>
      </p:sp>
      <p:sp>
        <p:nvSpPr>
          <p:cNvPr id="6" name="Text 4"/>
          <p:cNvSpPr txBox="1"/>
          <p:nvPr/>
        </p:nvSpPr>
        <p:spPr>
          <a:xfrm>
            <a:off x="777240" y="2148840"/>
            <a:ext cx="3090672" cy="114300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Imposé ; version LTS car PHP 8.2</a:t>
            </a:r>
            <a:endParaRPr lang="en-US" sz="1800" dirty="0"/>
          </a:p>
        </p:txBody>
      </p:sp>
      <p:sp>
        <p:nvSpPr>
          <p:cNvPr id="7" name="carte-MariaDB + Doctrine"/>
          <p:cNvSpPr/>
          <p:nvPr/>
        </p:nvSpPr>
        <p:spPr>
          <a:xfrm>
            <a:off x="4315968" y="1463040"/>
            <a:ext cx="3547872" cy="1965960"/>
          </a:xfrm>
          <a:prstGeom prst="roundRect">
            <a:avLst>
              <a:gd name="adj" fmla="val 5581"/>
            </a:avLst>
          </a:prstGeom>
          <a:solidFill>
            <a:schemeClr val="bg2"/>
          </a:solidFill>
          <a:ln w="12700">
            <a:solidFill>
              <a:schemeClr val="bg2"/>
            </a:solidFill>
            <a:prstDash val="solid"/>
          </a:ln>
        </p:spPr>
      </p:sp>
      <p:sp>
        <p:nvSpPr>
          <p:cNvPr id="8" name="pastille-MariaDB + Doctrine"/>
          <p:cNvSpPr/>
          <p:nvPr/>
        </p:nvSpPr>
        <p:spPr>
          <a:xfrm>
            <a:off x="4544568" y="1719072"/>
            <a:ext cx="201168" cy="201168"/>
          </a:xfrm>
          <a:prstGeom prst="ellipse">
            <a:avLst/>
          </a:prstGeom>
          <a:solidFill>
            <a:schemeClr val="accent2"/>
          </a:solidFill>
          <a:ln w="12700">
            <a:solidFill>
              <a:schemeClr val="accent2"/>
            </a:solidFill>
            <a:prstDash val="solid"/>
          </a:ln>
        </p:spPr>
      </p:sp>
      <p:sp>
        <p:nvSpPr>
          <p:cNvPr id="9" name="Text 7"/>
          <p:cNvSpPr txBox="1"/>
          <p:nvPr/>
        </p:nvSpPr>
        <p:spPr>
          <a:xfrm>
            <a:off x="4864608" y="1627632"/>
            <a:ext cx="2816352" cy="384048"/>
          </a:xfrm>
          <a:prstGeom prst="rect">
            <a:avLst/>
          </a:prstGeom>
          <a:noFill/>
          <a:ln/>
        </p:spPr>
        <p:txBody>
          <a:bodyPr wrap="square" lIns="0" tIns="0" rIns="0" bIns="0" rtlCol="0" anchor="ctr"/>
          <a:lstStyle/>
          <a:p>
            <a:pPr indent="0" marL="0">
              <a:buNone/>
            </a:pPr>
            <a:r>
              <a:rPr lang="en-US" sz="1800" b="1" dirty="0">
                <a:solidFill>
                  <a:schemeClr val="tx1"/>
                </a:solidFill>
              </a:rPr>
              <a:t>MariaDB + Doctrine</a:t>
            </a:r>
            <a:endParaRPr lang="en-US" sz="1800" dirty="0"/>
          </a:p>
        </p:txBody>
      </p:sp>
      <p:sp>
        <p:nvSpPr>
          <p:cNvPr id="10" name="Text 8"/>
          <p:cNvSpPr txBox="1"/>
          <p:nvPr/>
        </p:nvSpPr>
        <p:spPr>
          <a:xfrm>
            <a:off x="4544568" y="2148840"/>
            <a:ext cx="3090672" cy="114300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Données liées ; objets PHP au lieu de SQL</a:t>
            </a:r>
            <a:endParaRPr lang="en-US" sz="1800" dirty="0"/>
          </a:p>
        </p:txBody>
      </p:sp>
      <p:sp>
        <p:nvSpPr>
          <p:cNvPr id="11" name="carte-Twig + Bootstrap 5"/>
          <p:cNvSpPr/>
          <p:nvPr/>
        </p:nvSpPr>
        <p:spPr>
          <a:xfrm>
            <a:off x="8083296" y="1463040"/>
            <a:ext cx="3547872" cy="1965960"/>
          </a:xfrm>
          <a:prstGeom prst="roundRect">
            <a:avLst>
              <a:gd name="adj" fmla="val 5581"/>
            </a:avLst>
          </a:prstGeom>
          <a:solidFill>
            <a:schemeClr val="bg2"/>
          </a:solidFill>
          <a:ln w="12700">
            <a:solidFill>
              <a:schemeClr val="bg2"/>
            </a:solidFill>
            <a:prstDash val="solid"/>
          </a:ln>
        </p:spPr>
      </p:sp>
      <p:sp>
        <p:nvSpPr>
          <p:cNvPr id="12" name="pastille-Twig + Bootstrap 5"/>
          <p:cNvSpPr/>
          <p:nvPr/>
        </p:nvSpPr>
        <p:spPr>
          <a:xfrm>
            <a:off x="8311896" y="1719072"/>
            <a:ext cx="201168" cy="201168"/>
          </a:xfrm>
          <a:prstGeom prst="ellipse">
            <a:avLst/>
          </a:prstGeom>
          <a:solidFill>
            <a:schemeClr val="accent3"/>
          </a:solidFill>
          <a:ln w="12700">
            <a:solidFill>
              <a:schemeClr val="accent3"/>
            </a:solidFill>
            <a:prstDash val="solid"/>
          </a:ln>
        </p:spPr>
      </p:sp>
      <p:sp>
        <p:nvSpPr>
          <p:cNvPr id="13" name="Text 11"/>
          <p:cNvSpPr txBox="1"/>
          <p:nvPr/>
        </p:nvSpPr>
        <p:spPr>
          <a:xfrm>
            <a:off x="8631936" y="1627632"/>
            <a:ext cx="2816352" cy="384048"/>
          </a:xfrm>
          <a:prstGeom prst="rect">
            <a:avLst/>
          </a:prstGeom>
          <a:noFill/>
          <a:ln/>
        </p:spPr>
        <p:txBody>
          <a:bodyPr wrap="square" lIns="0" tIns="0" rIns="0" bIns="0" rtlCol="0" anchor="ctr"/>
          <a:lstStyle/>
          <a:p>
            <a:pPr indent="0" marL="0">
              <a:buNone/>
            </a:pPr>
            <a:r>
              <a:rPr lang="en-US" sz="1800" b="1" dirty="0">
                <a:solidFill>
                  <a:schemeClr val="tx1"/>
                </a:solidFill>
              </a:rPr>
              <a:t>Twig + Bootstrap 5</a:t>
            </a:r>
            <a:endParaRPr lang="en-US" sz="1800" dirty="0"/>
          </a:p>
        </p:txBody>
      </p:sp>
      <p:sp>
        <p:nvSpPr>
          <p:cNvPr id="14" name="Text 12"/>
          <p:cNvSpPr txBox="1"/>
          <p:nvPr/>
        </p:nvSpPr>
        <p:spPr>
          <a:xfrm>
            <a:off x="8311896" y="2148840"/>
            <a:ext cx="3090672" cy="114300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Vues sécurisées, grille responsive</a:t>
            </a:r>
            <a:endParaRPr lang="en-US" sz="1800" dirty="0"/>
          </a:p>
        </p:txBody>
      </p:sp>
      <p:sp>
        <p:nvSpPr>
          <p:cNvPr id="15" name="carte-JavaScript fetch"/>
          <p:cNvSpPr/>
          <p:nvPr/>
        </p:nvSpPr>
        <p:spPr>
          <a:xfrm>
            <a:off x="548640" y="3703320"/>
            <a:ext cx="3547872" cy="1965960"/>
          </a:xfrm>
          <a:prstGeom prst="roundRect">
            <a:avLst>
              <a:gd name="adj" fmla="val 5581"/>
            </a:avLst>
          </a:prstGeom>
          <a:solidFill>
            <a:schemeClr val="bg2"/>
          </a:solidFill>
          <a:ln w="12700">
            <a:solidFill>
              <a:schemeClr val="bg2"/>
            </a:solidFill>
            <a:prstDash val="solid"/>
          </a:ln>
        </p:spPr>
      </p:sp>
      <p:sp>
        <p:nvSpPr>
          <p:cNvPr id="16" name="pastille-JavaScript fetch"/>
          <p:cNvSpPr/>
          <p:nvPr/>
        </p:nvSpPr>
        <p:spPr>
          <a:xfrm>
            <a:off x="777240" y="3959352"/>
            <a:ext cx="201168" cy="201168"/>
          </a:xfrm>
          <a:prstGeom prst="ellipse">
            <a:avLst/>
          </a:prstGeom>
          <a:solidFill>
            <a:schemeClr val="accent1"/>
          </a:solidFill>
          <a:ln w="12700">
            <a:solidFill>
              <a:schemeClr val="accent1"/>
            </a:solidFill>
            <a:prstDash val="solid"/>
          </a:ln>
        </p:spPr>
      </p:sp>
      <p:sp>
        <p:nvSpPr>
          <p:cNvPr id="17" name="Text 15"/>
          <p:cNvSpPr txBox="1"/>
          <p:nvPr/>
        </p:nvSpPr>
        <p:spPr>
          <a:xfrm>
            <a:off x="1097280" y="3867912"/>
            <a:ext cx="2816352" cy="384048"/>
          </a:xfrm>
          <a:prstGeom prst="rect">
            <a:avLst/>
          </a:prstGeom>
          <a:noFill/>
          <a:ln/>
        </p:spPr>
        <p:txBody>
          <a:bodyPr wrap="square" lIns="0" tIns="0" rIns="0" bIns="0" rtlCol="0" anchor="ctr"/>
          <a:lstStyle/>
          <a:p>
            <a:pPr indent="0" marL="0">
              <a:buNone/>
            </a:pPr>
            <a:r>
              <a:rPr lang="en-US" sz="1800" b="1" dirty="0">
                <a:solidFill>
                  <a:schemeClr val="tx1"/>
                </a:solidFill>
              </a:rPr>
              <a:t>JavaScript fetch</a:t>
            </a:r>
            <a:endParaRPr lang="en-US" sz="1800" dirty="0"/>
          </a:p>
        </p:txBody>
      </p:sp>
      <p:sp>
        <p:nvSpPr>
          <p:cNvPr id="18" name="Text 16"/>
          <p:cNvSpPr txBox="1"/>
          <p:nvPr/>
        </p:nvSpPr>
        <p:spPr>
          <a:xfrm>
            <a:off x="777240" y="4389120"/>
            <a:ext cx="3090672" cy="114300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Panier sans rechargement</a:t>
            </a:r>
            <a:endParaRPr lang="en-US" sz="1800" dirty="0"/>
          </a:p>
        </p:txBody>
      </p:sp>
      <p:sp>
        <p:nvSpPr>
          <p:cNvPr id="19" name="carte-EasyAdmin 5"/>
          <p:cNvSpPr/>
          <p:nvPr/>
        </p:nvSpPr>
        <p:spPr>
          <a:xfrm>
            <a:off x="4315968" y="3703320"/>
            <a:ext cx="3547872" cy="1965960"/>
          </a:xfrm>
          <a:prstGeom prst="roundRect">
            <a:avLst>
              <a:gd name="adj" fmla="val 5581"/>
            </a:avLst>
          </a:prstGeom>
          <a:solidFill>
            <a:schemeClr val="bg2"/>
          </a:solidFill>
          <a:ln w="12700">
            <a:solidFill>
              <a:schemeClr val="bg2"/>
            </a:solidFill>
            <a:prstDash val="solid"/>
          </a:ln>
        </p:spPr>
      </p:sp>
      <p:sp>
        <p:nvSpPr>
          <p:cNvPr id="20" name="pastille-EasyAdmin 5"/>
          <p:cNvSpPr/>
          <p:nvPr/>
        </p:nvSpPr>
        <p:spPr>
          <a:xfrm>
            <a:off x="4544568" y="3959352"/>
            <a:ext cx="201168" cy="201168"/>
          </a:xfrm>
          <a:prstGeom prst="ellipse">
            <a:avLst/>
          </a:prstGeom>
          <a:solidFill>
            <a:schemeClr val="accent2"/>
          </a:solidFill>
          <a:ln w="12700">
            <a:solidFill>
              <a:schemeClr val="accent2"/>
            </a:solidFill>
            <a:prstDash val="solid"/>
          </a:ln>
        </p:spPr>
      </p:sp>
      <p:sp>
        <p:nvSpPr>
          <p:cNvPr id="21" name="Text 19"/>
          <p:cNvSpPr txBox="1"/>
          <p:nvPr/>
        </p:nvSpPr>
        <p:spPr>
          <a:xfrm>
            <a:off x="4864608" y="3867912"/>
            <a:ext cx="2816352" cy="384048"/>
          </a:xfrm>
          <a:prstGeom prst="rect">
            <a:avLst/>
          </a:prstGeom>
          <a:noFill/>
          <a:ln/>
        </p:spPr>
        <p:txBody>
          <a:bodyPr wrap="square" lIns="0" tIns="0" rIns="0" bIns="0" rtlCol="0" anchor="ctr"/>
          <a:lstStyle/>
          <a:p>
            <a:pPr indent="0" marL="0">
              <a:buNone/>
            </a:pPr>
            <a:r>
              <a:rPr lang="en-US" sz="1800" b="1" dirty="0">
                <a:solidFill>
                  <a:schemeClr val="tx1"/>
                </a:solidFill>
              </a:rPr>
              <a:t>EasyAdmin 5</a:t>
            </a:r>
            <a:endParaRPr lang="en-US" sz="1800" dirty="0"/>
          </a:p>
        </p:txBody>
      </p:sp>
      <p:sp>
        <p:nvSpPr>
          <p:cNvPr id="22" name="Text 20"/>
          <p:cNvSpPr txBox="1"/>
          <p:nvPr/>
        </p:nvSpPr>
        <p:spPr>
          <a:xfrm>
            <a:off x="4544568" y="4389120"/>
            <a:ext cx="3090672" cy="114300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Back-office complet en peu de code</a:t>
            </a:r>
            <a:endParaRPr lang="en-US" sz="1800" dirty="0"/>
          </a:p>
        </p:txBody>
      </p:sp>
      <p:sp>
        <p:nvSpPr>
          <p:cNvPr id="23" name="carte-Mailer + Dompdf"/>
          <p:cNvSpPr/>
          <p:nvPr/>
        </p:nvSpPr>
        <p:spPr>
          <a:xfrm>
            <a:off x="8083296" y="3703320"/>
            <a:ext cx="3547872" cy="1965960"/>
          </a:xfrm>
          <a:prstGeom prst="roundRect">
            <a:avLst>
              <a:gd name="adj" fmla="val 5581"/>
            </a:avLst>
          </a:prstGeom>
          <a:solidFill>
            <a:schemeClr val="bg2"/>
          </a:solidFill>
          <a:ln w="12700">
            <a:solidFill>
              <a:schemeClr val="bg2"/>
            </a:solidFill>
            <a:prstDash val="solid"/>
          </a:ln>
        </p:spPr>
      </p:sp>
      <p:sp>
        <p:nvSpPr>
          <p:cNvPr id="24" name="pastille-Mailer + Dompdf"/>
          <p:cNvSpPr/>
          <p:nvPr/>
        </p:nvSpPr>
        <p:spPr>
          <a:xfrm>
            <a:off x="8311896" y="3959352"/>
            <a:ext cx="201168" cy="201168"/>
          </a:xfrm>
          <a:prstGeom prst="ellipse">
            <a:avLst/>
          </a:prstGeom>
          <a:solidFill>
            <a:schemeClr val="accent3"/>
          </a:solidFill>
          <a:ln w="12700">
            <a:solidFill>
              <a:schemeClr val="accent3"/>
            </a:solidFill>
            <a:prstDash val="solid"/>
          </a:ln>
        </p:spPr>
      </p:sp>
      <p:sp>
        <p:nvSpPr>
          <p:cNvPr id="25" name="Text 23"/>
          <p:cNvSpPr txBox="1"/>
          <p:nvPr/>
        </p:nvSpPr>
        <p:spPr>
          <a:xfrm>
            <a:off x="8631936" y="3867912"/>
            <a:ext cx="2816352" cy="384048"/>
          </a:xfrm>
          <a:prstGeom prst="rect">
            <a:avLst/>
          </a:prstGeom>
          <a:noFill/>
          <a:ln/>
        </p:spPr>
        <p:txBody>
          <a:bodyPr wrap="square" lIns="0" tIns="0" rIns="0" bIns="0" rtlCol="0" anchor="ctr"/>
          <a:lstStyle/>
          <a:p>
            <a:pPr indent="0" marL="0">
              <a:buNone/>
            </a:pPr>
            <a:r>
              <a:rPr lang="en-US" sz="1800" b="1" dirty="0">
                <a:solidFill>
                  <a:schemeClr val="tx1"/>
                </a:solidFill>
              </a:rPr>
              <a:t>Mailer + Dompdf</a:t>
            </a:r>
            <a:endParaRPr lang="en-US" sz="1800" dirty="0"/>
          </a:p>
        </p:txBody>
      </p:sp>
      <p:sp>
        <p:nvSpPr>
          <p:cNvPr id="26" name="Text 24"/>
          <p:cNvSpPr txBox="1"/>
          <p:nvPr/>
        </p:nvSpPr>
        <p:spPr>
          <a:xfrm>
            <a:off x="8311896" y="4389120"/>
            <a:ext cx="3090672" cy="1143000"/>
          </a:xfrm>
          <a:prstGeom prst="rect">
            <a:avLst/>
          </a:prstGeom>
          <a:noFill/>
          <a:ln/>
        </p:spPr>
        <p:txBody>
          <a:bodyPr wrap="square" lIns="0" tIns="0" rIns="0" bIns="0" rtlCol="0" anchor="t"/>
          <a:lstStyle/>
          <a:p>
            <a:pPr indent="0" marL="0">
              <a:spcAft>
                <a:spcPts val="800"/>
              </a:spcAft>
              <a:buNone/>
            </a:pPr>
            <a:r>
              <a:rPr lang="en-US" sz="1800" dirty="0">
                <a:solidFill>
                  <a:schemeClr val="tx2"/>
                </a:solidFill>
              </a:rPr>
              <a:t>Emails et factures PDF</a:t>
            </a:r>
            <a:endParaRPr lang="en-US" sz="18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L’architecture MVC</a:t>
            </a:r>
            <a:endParaRPr lang="en-US" sz="3200" dirty="0"/>
          </a:p>
        </p:txBody>
      </p:sp>
      <p:pic>
        <p:nvPicPr>
          <p:cNvPr id="3" name="img-schema-mvc.png" descr="schema-mvc.png">    </p:cNvPr>
          <p:cNvPicPr>
            <a:picLocks noChangeAspect="1"/>
          </p:cNvPicPr>
          <p:nvPr/>
        </p:nvPicPr>
        <p:blipFill>
          <a:blip r:embed="rId1"/>
          <a:stretch>
            <a:fillRect/>
          </a:stretch>
        </p:blipFill>
        <p:spPr>
          <a:xfrm>
            <a:off x="1051235" y="1280160"/>
            <a:ext cx="10059051" cy="4206240"/>
          </a:xfrm>
          <a:prstGeom prst="rect">
            <a:avLst/>
          </a:prstGeom>
        </p:spPr>
      </p:pic>
      <p:sp>
        <p:nvSpPr>
          <p:cNvPr id="4" name="Text 1"/>
          <p:cNvSpPr txBox="1"/>
          <p:nvPr/>
        </p:nvSpPr>
        <p:spPr>
          <a:xfrm>
            <a:off x="548640" y="5623560"/>
            <a:ext cx="11064240" cy="411480"/>
          </a:xfrm>
          <a:prstGeom prst="rect">
            <a:avLst/>
          </a:prstGeom>
          <a:noFill/>
          <a:ln/>
        </p:spPr>
        <p:txBody>
          <a:bodyPr wrap="square" lIns="0" tIns="0" rIns="0" bIns="0" rtlCol="0" anchor="ctr"/>
          <a:lstStyle/>
          <a:p>
            <a:pPr algn="ctr" indent="0" marL="0">
              <a:buNone/>
            </a:pPr>
            <a:r>
              <a:rPr lang="en-US" sz="1600" dirty="0">
                <a:solidFill>
                  <a:schemeClr val="tx2"/>
                </a:solidFill>
              </a:rPr>
              <a:t>Controller = chef d’orchestre · Model = les données · View = ce que voit l’utilisateur</a:t>
            </a:r>
            <a:endParaRPr lang="en-US" sz="16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7 entités, et un panier en session</a:t>
            </a:r>
            <a:endParaRPr lang="en-US" sz="3200" dirty="0"/>
          </a:p>
        </p:txBody>
      </p:sp>
      <p:pic>
        <p:nvPicPr>
          <p:cNvPr id="3" name="img-diagramme-classes.png" descr="diagramme-classes.png">    </p:cNvPr>
          <p:cNvPicPr>
            <a:picLocks noChangeAspect="1"/>
          </p:cNvPicPr>
          <p:nvPr/>
        </p:nvPicPr>
        <p:blipFill>
          <a:blip r:embed="rId1"/>
          <a:stretch>
            <a:fillRect/>
          </a:stretch>
        </p:blipFill>
        <p:spPr>
          <a:xfrm>
            <a:off x="1198654" y="1188720"/>
            <a:ext cx="6563812" cy="4983480"/>
          </a:xfrm>
          <a:prstGeom prst="rect">
            <a:avLst/>
          </a:prstGeom>
        </p:spPr>
      </p:pic>
      <p:sp>
        <p:nvSpPr>
          <p:cNvPr id="4" name="cadre-diagramme-classes.png"/>
          <p:cNvSpPr/>
          <p:nvPr/>
        </p:nvSpPr>
        <p:spPr>
          <a:xfrm>
            <a:off x="1198654" y="1188720"/>
            <a:ext cx="6563812" cy="4983480"/>
          </a:xfrm>
          <a:prstGeom prst="rect">
            <a:avLst/>
          </a:prstGeom>
          <a:ln w="9525">
            <a:solidFill>
              <a:srgbClr val="CED4DA"/>
            </a:solidFill>
            <a:prstDash val="solid"/>
          </a:ln>
        </p:spPr>
      </p:sp>
      <p:sp>
        <p:nvSpPr>
          <p:cNvPr id="5" name="Text 2"/>
          <p:cNvSpPr txBox="1"/>
          <p:nvPr/>
        </p:nvSpPr>
        <p:spPr>
          <a:xfrm>
            <a:off x="8686800" y="1371600"/>
            <a:ext cx="2971800" cy="4572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Une commande contient au moins une ligne</a:t>
            </a:r>
            <a:endParaRPr lang="en-US" sz="1500" dirty="0"/>
          </a:p>
          <a:p>
            <a:pPr marL="342900" indent="-342900">
              <a:spcAft>
                <a:spcPts val="1000"/>
              </a:spcAft>
              <a:buSzPct val="100000"/>
              <a:buChar char="•"/>
            </a:pPr>
            <a:r>
              <a:rPr lang="en-US" sz="1500" dirty="0">
                <a:solidFill>
                  <a:schemeClr val="tx2"/>
                </a:solidFill>
              </a:rPr>
              <a:t>Nom et prix copiés dans la ligne : la facture ne change jamais</a:t>
            </a:r>
            <a:endParaRPr lang="en-US" sz="1500" dirty="0"/>
          </a:p>
          <a:p>
            <a:pPr marL="342900" indent="-342900">
              <a:spcAft>
                <a:spcPts val="1000"/>
              </a:spcAft>
              <a:buSzPct val="100000"/>
              <a:buChar char="•"/>
            </a:pPr>
            <a:r>
              <a:rPr lang="en-US" sz="1500" dirty="0">
                <a:solidFill>
                  <a:schemeClr val="tx2"/>
                </a:solidFill>
              </a:rPr>
              <a:t>Numéro de commande unique</a:t>
            </a:r>
            <a:endParaRPr lang="en-US" sz="1500" dirty="0"/>
          </a:p>
          <a:p>
            <a:pPr marL="342900" indent="-342900">
              <a:spcAft>
                <a:spcPts val="1000"/>
              </a:spcAft>
              <a:buSzPct val="100000"/>
              <a:buChar char="•"/>
            </a:pPr>
            <a:r>
              <a:rPr lang="en-US" sz="1500" dirty="0">
                <a:solidFill>
                  <a:schemeClr val="tx2"/>
                </a:solidFill>
              </a:rPr>
              <a:t>Index sur date_ajout, ala_une, statut</a:t>
            </a:r>
            <a:endParaRPr lang="en-US" sz="1500" dirty="0"/>
          </a:p>
          <a:p>
            <a:pPr marL="342900" indent="-342900">
              <a:spcAft>
                <a:spcPts val="1000"/>
              </a:spcAft>
              <a:buSzPct val="100000"/>
              <a:buChar char="•"/>
            </a:pPr>
            <a:r>
              <a:rPr lang="en-US" sz="1500" dirty="0">
                <a:solidFill>
                  <a:schemeClr val="tx2"/>
                </a:solidFill>
              </a:rPr>
              <a:t>Le panier n’est pas une table : il vit dans la session</a:t>
            </a:r>
            <a:endParaRPr lang="en-US" sz="15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10698480" cy="731520"/>
          </a:xfrm>
          <a:prstGeom prst="rect">
            <a:avLst/>
          </a:prstGeom>
          <a:noFill/>
          <a:ln/>
        </p:spPr>
        <p:txBody>
          <a:bodyPr wrap="square" lIns="0" tIns="0" rIns="0" bIns="0" rtlCol="0" anchor="b"/>
          <a:lstStyle/>
          <a:p>
            <a:pPr indent="0" marL="0">
              <a:buNone/>
            </a:pPr>
            <a:r>
              <a:rPr lang="en-US" sz="2400" b="1" dirty="0">
                <a:solidFill>
                  <a:schemeClr val="accent2"/>
                </a:solidFill>
              </a:rPr>
              <a:t>Partie 3</a:t>
            </a:r>
            <a:endParaRPr lang="en-US" sz="2400" dirty="0"/>
          </a:p>
        </p:txBody>
      </p:sp>
      <p:sp>
        <p:nvSpPr>
          <p:cNvPr id="3" name="Text 0"/>
          <p:cNvSpPr/>
          <p:nvPr>
            <p:ph idx="100" type="title" hasCustomPrompt="1"/>
          </p:nvPr>
        </p:nvSpPr>
        <p:spPr>
          <a:xfrm>
            <a:off x="731520" y="2743200"/>
            <a:ext cx="10698480" cy="1097280"/>
          </a:xfrm>
          <a:prstGeom prst="rect">
            <a:avLst/>
          </a:prstGeom>
          <a:noFill/>
          <a:ln/>
        </p:spPr>
        <p:txBody>
          <a:bodyPr wrap="square" lIns="0" tIns="0" rIns="0" bIns="0" rtlCol="0" anchor="ctr"/>
          <a:lstStyle/>
          <a:p>
            <a:pPr algn="l" indent="0" marL="0">
              <a:buNone/>
            </a:pPr>
            <a:r>
              <a:rPr lang="en-US" sz="4400" b="1" dirty="0">
                <a:solidFill>
                  <a:schemeClr val="bg1"/>
                </a:solidFill>
              </a:rPr>
              <a:t>Les réalisations</a:t>
            </a:r>
            <a:endParaRPr lang="en-US" sz="4400" dirty="0"/>
          </a:p>
        </p:txBody>
      </p:sp>
      <p:sp>
        <p:nvSpPr>
          <p:cNvPr id="25" name="Slide Number Placeholder 0"/>
          <p:cNvSpPr>
            <a:spLocks noGrp="1"/>
          </p:cNvSpPr>
          <p:nvPr>
            <p:ph type="sldNum" sz="quarter" idx="4294967295"/>
          </p:nvPr>
        </p:nvSpPr>
        <p:spPr>
          <a:xfrm>
            <a:off x="11247120"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Le parcours d’achat : 10 écrans</a:t>
            </a:r>
            <a:endParaRPr lang="en-US" sz="3200" dirty="0"/>
          </a:p>
        </p:txBody>
      </p:sp>
      <p:pic>
        <p:nvPicPr>
          <p:cNvPr id="3" name="img-schema-parcours.png" descr="schema-parcours.png">    </p:cNvPr>
          <p:cNvPicPr>
            <a:picLocks noChangeAspect="1"/>
          </p:cNvPicPr>
          <p:nvPr/>
        </p:nvPicPr>
        <p:blipFill>
          <a:blip r:embed="rId1"/>
          <a:stretch>
            <a:fillRect/>
          </a:stretch>
        </p:blipFill>
        <p:spPr>
          <a:xfrm>
            <a:off x="1424314" y="1234440"/>
            <a:ext cx="9312892" cy="4892040"/>
          </a:xfrm>
          <a:prstGeom prst="rect">
            <a:avLst/>
          </a:prstGeom>
        </p:spPr>
      </p:pic>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Des pages Twig responsive</a:t>
            </a:r>
            <a:endParaRPr lang="en-US" sz="3200" dirty="0"/>
          </a:p>
        </p:txBody>
      </p:sp>
      <p:pic>
        <p:nvPicPr>
          <p:cNvPr id="3" name="img-accueil.png" descr="accueil.png">    </p:cNvPr>
          <p:cNvPicPr>
            <a:picLocks noChangeAspect="1"/>
          </p:cNvPicPr>
          <p:nvPr/>
        </p:nvPicPr>
        <p:blipFill>
          <a:blip r:embed="rId1"/>
          <a:stretch>
            <a:fillRect/>
          </a:stretch>
        </p:blipFill>
        <p:spPr>
          <a:xfrm>
            <a:off x="548640" y="1480185"/>
            <a:ext cx="6766560" cy="3806190"/>
          </a:xfrm>
          <a:prstGeom prst="rect">
            <a:avLst/>
          </a:prstGeom>
        </p:spPr>
      </p:pic>
      <p:sp>
        <p:nvSpPr>
          <p:cNvPr id="4" name="cadre-accueil.png"/>
          <p:cNvSpPr/>
          <p:nvPr/>
        </p:nvSpPr>
        <p:spPr>
          <a:xfrm>
            <a:off x="548640" y="1480185"/>
            <a:ext cx="6766560" cy="3806190"/>
          </a:xfrm>
          <a:prstGeom prst="rect">
            <a:avLst/>
          </a:prstGeom>
          <a:ln w="9525">
            <a:solidFill>
              <a:srgbClr val="CED4DA"/>
            </a:solidFill>
            <a:prstDash val="solid"/>
          </a:ln>
        </p:spPr>
      </p:sp>
      <p:sp>
        <p:nvSpPr>
          <p:cNvPr id="5" name="Text 2"/>
          <p:cNvSpPr txBox="1"/>
          <p:nvPr/>
        </p:nvSpPr>
        <p:spPr>
          <a:xfrm>
            <a:off x="548640" y="5623560"/>
            <a:ext cx="6766560" cy="320040"/>
          </a:xfrm>
          <a:prstGeom prst="rect">
            <a:avLst/>
          </a:prstGeom>
          <a:noFill/>
          <a:ln/>
        </p:spPr>
        <p:txBody>
          <a:bodyPr wrap="square" lIns="0" tIns="0" rIns="0" bIns="0" rtlCol="0" anchor="ctr"/>
          <a:lstStyle/>
          <a:p>
            <a:pPr algn="ctr" indent="0" marL="0">
              <a:buNone/>
            </a:pPr>
            <a:r>
              <a:rPr lang="en-US" sz="1200" i="1" dirty="0">
                <a:solidFill>
                  <a:schemeClr val="accent4"/>
                </a:solidFill>
              </a:rPr>
              <a:t>Accueil sur ordinateur</a:t>
            </a:r>
            <a:endParaRPr lang="en-US" sz="1200" dirty="0"/>
          </a:p>
        </p:txBody>
      </p:sp>
      <p:pic>
        <p:nvPicPr>
          <p:cNvPr id="6" name="img-mobile-accueil.png" descr="mobile-accueil.png">    </p:cNvPr>
          <p:cNvPicPr>
            <a:picLocks noChangeAspect="1"/>
          </p:cNvPicPr>
          <p:nvPr/>
        </p:nvPicPr>
        <p:blipFill>
          <a:blip r:embed="rId2"/>
          <a:stretch>
            <a:fillRect/>
          </a:stretch>
        </p:blipFill>
        <p:spPr>
          <a:xfrm>
            <a:off x="7772400" y="1396538"/>
            <a:ext cx="1828800" cy="3973484"/>
          </a:xfrm>
          <a:prstGeom prst="rect">
            <a:avLst/>
          </a:prstGeom>
        </p:spPr>
      </p:pic>
      <p:sp>
        <p:nvSpPr>
          <p:cNvPr id="7" name="cadre-mobile-accueil.png"/>
          <p:cNvSpPr/>
          <p:nvPr/>
        </p:nvSpPr>
        <p:spPr>
          <a:xfrm>
            <a:off x="7772400" y="1396538"/>
            <a:ext cx="1828800" cy="3973484"/>
          </a:xfrm>
          <a:prstGeom prst="rect">
            <a:avLst/>
          </a:prstGeom>
          <a:ln w="9525">
            <a:solidFill>
              <a:srgbClr val="CED4DA"/>
            </a:solidFill>
            <a:prstDash val="solid"/>
          </a:ln>
        </p:spPr>
      </p:sp>
      <p:pic>
        <p:nvPicPr>
          <p:cNvPr id="8" name="img-mobile-catalogue.png" descr="mobile-catalogue.png">    </p:cNvPr>
          <p:cNvPicPr>
            <a:picLocks noChangeAspect="1"/>
          </p:cNvPicPr>
          <p:nvPr/>
        </p:nvPicPr>
        <p:blipFill>
          <a:blip r:embed="rId3"/>
          <a:stretch>
            <a:fillRect/>
          </a:stretch>
        </p:blipFill>
        <p:spPr>
          <a:xfrm>
            <a:off x="9784080" y="1396538"/>
            <a:ext cx="1828800" cy="3973484"/>
          </a:xfrm>
          <a:prstGeom prst="rect">
            <a:avLst/>
          </a:prstGeom>
        </p:spPr>
      </p:pic>
      <p:sp>
        <p:nvSpPr>
          <p:cNvPr id="9" name="cadre-mobile-catalogue.png"/>
          <p:cNvSpPr/>
          <p:nvPr/>
        </p:nvSpPr>
        <p:spPr>
          <a:xfrm>
            <a:off x="9784080" y="1396538"/>
            <a:ext cx="1828800" cy="3973484"/>
          </a:xfrm>
          <a:prstGeom prst="rect">
            <a:avLst/>
          </a:prstGeom>
          <a:ln w="9525">
            <a:solidFill>
              <a:srgbClr val="CED4DA"/>
            </a:solidFill>
            <a:prstDash val="solid"/>
          </a:ln>
        </p:spPr>
      </p:sp>
      <p:sp>
        <p:nvSpPr>
          <p:cNvPr id="10" name="Text 5"/>
          <p:cNvSpPr txBox="1"/>
          <p:nvPr/>
        </p:nvSpPr>
        <p:spPr>
          <a:xfrm>
            <a:off x="7772400" y="5623560"/>
            <a:ext cx="3840480" cy="320040"/>
          </a:xfrm>
          <a:prstGeom prst="rect">
            <a:avLst/>
          </a:prstGeom>
          <a:noFill/>
          <a:ln/>
        </p:spPr>
        <p:txBody>
          <a:bodyPr wrap="square" lIns="0" tIns="0" rIns="0" bIns="0" rtlCol="0" anchor="ctr"/>
          <a:lstStyle/>
          <a:p>
            <a:pPr algn="ctr" indent="0" marL="0">
              <a:buNone/>
            </a:pPr>
            <a:r>
              <a:rPr lang="en-US" sz="1200" i="1" dirty="0">
                <a:solidFill>
                  <a:schemeClr val="accent4"/>
                </a:solidFill>
              </a:rPr>
              <a:t>Sur téléphone</a:t>
            </a:r>
            <a:endParaRPr lang="en-US" sz="12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Le panier en AJAX</a:t>
            </a:r>
            <a:endParaRPr lang="en-US" sz="3200" dirty="0"/>
          </a:p>
        </p:txBody>
      </p:sp>
      <p:sp>
        <p:nvSpPr>
          <p:cNvPr id="3" name="Text 1"/>
          <p:cNvSpPr txBox="1"/>
          <p:nvPr/>
        </p:nvSpPr>
        <p:spPr>
          <a:xfrm>
            <a:off x="548640" y="1371600"/>
            <a:ext cx="5669280" cy="2377440"/>
          </a:xfrm>
          <a:prstGeom prst="rect">
            <a:avLst/>
          </a:prstGeom>
          <a:solidFill>
            <a:schemeClr val="tx1"/>
          </a:solidFill>
          <a:ln/>
        </p:spPr>
        <p:txBody>
          <a:bodyPr wrap="square" lIns="2540" tIns="2540" rIns="2540" bIns="254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fetch(form.action,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method: 'POST',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body: new FormData(form),</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headers: { 'X-Requested-With': 'XMLHttpRequest'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JSON { nombre, total, message }</a:t>
            </a:r>
            <a:endParaRPr lang="en-US" sz="1400" dirty="0"/>
          </a:p>
        </p:txBody>
      </p:sp>
      <p:sp>
        <p:nvSpPr>
          <p:cNvPr id="4" name="Text 2"/>
          <p:cNvSpPr txBox="1"/>
          <p:nvPr/>
        </p:nvSpPr>
        <p:spPr>
          <a:xfrm>
            <a:off x="548640" y="4023360"/>
            <a:ext cx="56692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preventDefault() : pas de rechargement</a:t>
            </a:r>
            <a:endParaRPr lang="en-US" sz="1600" dirty="0"/>
          </a:p>
          <a:p>
            <a:pPr marL="342900" indent="-342900">
              <a:spcAft>
                <a:spcPts val="1000"/>
              </a:spcAft>
              <a:buSzPct val="100000"/>
              <a:buChar char="•"/>
            </a:pPr>
            <a:r>
              <a:rPr lang="en-US" sz="1600" dirty="0">
                <a:solidFill>
                  <a:schemeClr val="tx2"/>
                </a:solidFill>
              </a:rPr>
              <a:t>Compteur 🛒 et total mis à jour tout de suite</a:t>
            </a:r>
            <a:endParaRPr lang="en-US" sz="1600" dirty="0"/>
          </a:p>
          <a:p>
            <a:pPr marL="342900" indent="-342900">
              <a:spcAft>
                <a:spcPts val="1000"/>
              </a:spcAft>
              <a:buSzPct val="100000"/>
              <a:buChar char="•"/>
            </a:pPr>
            <a:r>
              <a:rPr lang="en-US" sz="1600" dirty="0">
                <a:solidFill>
                  <a:schemeClr val="tx2"/>
                </a:solidFill>
              </a:rPr>
              <a:t>try/catch : message rouge en cas d’erreur</a:t>
            </a:r>
            <a:endParaRPr lang="en-US" sz="1600" dirty="0"/>
          </a:p>
          <a:p>
            <a:pPr marL="342900" indent="-342900">
              <a:spcAft>
                <a:spcPts val="1000"/>
              </a:spcAft>
              <a:buSzPct val="100000"/>
              <a:buChar char="•"/>
            </a:pPr>
            <a:r>
              <a:rPr lang="en-US" sz="1600" dirty="0">
                <a:solidFill>
                  <a:schemeClr val="tx2"/>
                </a:solidFill>
              </a:rPr>
              <a:t>Jeton CSRF envoyé avec chaque demande</a:t>
            </a:r>
            <a:endParaRPr lang="en-US" sz="1600" dirty="0"/>
          </a:p>
        </p:txBody>
      </p:sp>
      <p:pic>
        <p:nvPicPr>
          <p:cNvPr id="5" name="img-panier.png" descr="panier.png">    </p:cNvPr>
          <p:cNvPicPr>
            <a:picLocks noChangeAspect="1"/>
          </p:cNvPicPr>
          <p:nvPr/>
        </p:nvPicPr>
        <p:blipFill>
          <a:blip r:embed="rId1"/>
          <a:stretch>
            <a:fillRect/>
          </a:stretch>
        </p:blipFill>
        <p:spPr>
          <a:xfrm>
            <a:off x="6583680" y="2014538"/>
            <a:ext cx="5029200" cy="2828925"/>
          </a:xfrm>
          <a:prstGeom prst="rect">
            <a:avLst/>
          </a:prstGeom>
        </p:spPr>
      </p:pic>
      <p:sp>
        <p:nvSpPr>
          <p:cNvPr id="6" name="cadre-panier.png"/>
          <p:cNvSpPr/>
          <p:nvPr/>
        </p:nvSpPr>
        <p:spPr>
          <a:xfrm>
            <a:off x="6583680" y="2014538"/>
            <a:ext cx="5029200" cy="2828925"/>
          </a:xfrm>
          <a:prstGeom prst="rect">
            <a:avLst/>
          </a:prstGeom>
          <a:ln w="9525">
            <a:solidFill>
              <a:srgbClr val="CED4DA"/>
            </a:solidFill>
            <a:prstDash val="solid"/>
          </a:ln>
        </p:spPr>
      </p:sp>
      <p:sp>
        <p:nvSpPr>
          <p:cNvPr id="7" name="Text 4"/>
          <p:cNvSpPr txBox="1"/>
          <p:nvPr/>
        </p:nvSpPr>
        <p:spPr>
          <a:xfrm>
            <a:off x="6583680" y="5623560"/>
            <a:ext cx="5029200" cy="320040"/>
          </a:xfrm>
          <a:prstGeom prst="rect">
            <a:avLst/>
          </a:prstGeom>
          <a:noFill/>
          <a:ln/>
        </p:spPr>
        <p:txBody>
          <a:bodyPr wrap="square" lIns="0" tIns="0" rIns="0" bIns="0" rtlCol="0" anchor="ctr"/>
          <a:lstStyle/>
          <a:p>
            <a:pPr algn="ctr" indent="0" marL="0">
              <a:buNone/>
            </a:pPr>
            <a:r>
              <a:rPr lang="en-US" sz="1200" i="1" dirty="0">
                <a:solidFill>
                  <a:schemeClr val="accent4"/>
                </a:solidFill>
              </a:rPr>
              <a:t>Le panier : une ligne par article et son option</a:t>
            </a:r>
            <a:endParaRPr lang="en-US" sz="12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Valider une commande : le cœur métier</a:t>
            </a:r>
            <a:endParaRPr lang="en-US" sz="3200" dirty="0"/>
          </a:p>
        </p:txBody>
      </p:sp>
      <p:sp>
        <p:nvSpPr>
          <p:cNvPr id="3" name="etape-1"/>
          <p:cNvSpPr/>
          <p:nvPr/>
        </p:nvSpPr>
        <p:spPr>
          <a:xfrm>
            <a:off x="548640" y="1371600"/>
            <a:ext cx="640080" cy="640080"/>
          </a:xfrm>
          <a:prstGeom prst="ellipse">
            <a:avLst/>
          </a:prstGeom>
          <a:solidFill>
            <a:schemeClr val="accent1"/>
          </a:solidFill>
          <a:ln w="12700">
            <a:solidFill>
              <a:schemeClr val="accent1"/>
            </a:solidFill>
            <a:prstDash val="solid"/>
          </a:ln>
        </p:spPr>
      </p:sp>
      <p:sp>
        <p:nvSpPr>
          <p:cNvPr id="4" name="Text 2"/>
          <p:cNvSpPr txBox="1"/>
          <p:nvPr/>
        </p:nvSpPr>
        <p:spPr>
          <a:xfrm>
            <a:off x="548640" y="137160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371600" y="1371600"/>
            <a:ext cx="4846320" cy="640080"/>
          </a:xfrm>
          <a:prstGeom prst="rect">
            <a:avLst/>
          </a:prstGeom>
          <a:noFill/>
          <a:ln/>
        </p:spPr>
        <p:txBody>
          <a:bodyPr wrap="square" lIns="0" tIns="0" rIns="0" bIns="0" rtlCol="0" anchor="ctr"/>
          <a:lstStyle/>
          <a:p>
            <a:pPr indent="0" marL="0">
              <a:buNone/>
            </a:pPr>
            <a:r>
              <a:rPr lang="en-US" sz="1600" b="1" dirty="0">
                <a:solidFill>
                  <a:schemeClr val="tx1"/>
                </a:solidFill>
              </a:rPr>
              <a:t>Sécurité — </a:t>
            </a:r>
            <a:pPr indent="0" marL="0">
              <a:buNone/>
            </a:pPr>
            <a:r>
              <a:rPr lang="en-US" sz="1600" dirty="0">
                <a:solidFill>
                  <a:schemeClr val="tx2"/>
                </a:solidFill>
              </a:rPr>
              <a:t>POST seulement, jeton CSRF, Voter sur l’adresse</a:t>
            </a:r>
            <a:endParaRPr lang="en-US" sz="1600" dirty="0"/>
          </a:p>
        </p:txBody>
      </p:sp>
      <p:sp>
        <p:nvSpPr>
          <p:cNvPr id="6" name="etape-2"/>
          <p:cNvSpPr/>
          <p:nvPr/>
        </p:nvSpPr>
        <p:spPr>
          <a:xfrm>
            <a:off x="548640" y="2304288"/>
            <a:ext cx="640080" cy="640080"/>
          </a:xfrm>
          <a:prstGeom prst="ellipse">
            <a:avLst/>
          </a:prstGeom>
          <a:solidFill>
            <a:schemeClr val="accent1"/>
          </a:solidFill>
          <a:ln w="12700">
            <a:solidFill>
              <a:schemeClr val="accent1"/>
            </a:solidFill>
            <a:prstDash val="solid"/>
          </a:ln>
        </p:spPr>
      </p:sp>
      <p:sp>
        <p:nvSpPr>
          <p:cNvPr id="7" name="Text 5"/>
          <p:cNvSpPr txBox="1"/>
          <p:nvPr/>
        </p:nvSpPr>
        <p:spPr>
          <a:xfrm>
            <a:off x="548640" y="2304288"/>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ext 6"/>
          <p:cNvSpPr txBox="1"/>
          <p:nvPr/>
        </p:nvSpPr>
        <p:spPr>
          <a:xfrm>
            <a:off x="1371600" y="2304288"/>
            <a:ext cx="4846320" cy="640080"/>
          </a:xfrm>
          <a:prstGeom prst="rect">
            <a:avLst/>
          </a:prstGeom>
          <a:noFill/>
          <a:ln/>
        </p:spPr>
        <p:txBody>
          <a:bodyPr wrap="square" lIns="0" tIns="0" rIns="0" bIns="0" rtlCol="0" anchor="ctr"/>
          <a:lstStyle/>
          <a:p>
            <a:pPr indent="0" marL="0">
              <a:buNone/>
            </a:pPr>
            <a:r>
              <a:rPr lang="en-US" sz="1600" b="1" dirty="0">
                <a:solidFill>
                  <a:schemeClr val="tx1"/>
                </a:solidFill>
              </a:rPr>
              <a:t>Commande — </a:t>
            </a:r>
            <a:pPr indent="0" marL="0">
              <a:buNone/>
            </a:pPr>
            <a:r>
              <a:rPr lang="en-US" sz="1600" dirty="0">
                <a:solidFill>
                  <a:schemeClr val="tx2"/>
                </a:solidFill>
              </a:rPr>
              <a:t>Numéro unique CMD-20261017-89DAD4</a:t>
            </a:r>
            <a:endParaRPr lang="en-US" sz="1600" dirty="0"/>
          </a:p>
        </p:txBody>
      </p:sp>
      <p:sp>
        <p:nvSpPr>
          <p:cNvPr id="9" name="etape-3"/>
          <p:cNvSpPr/>
          <p:nvPr/>
        </p:nvSpPr>
        <p:spPr>
          <a:xfrm>
            <a:off x="548640" y="3236976"/>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548640" y="3236976"/>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Text 9"/>
          <p:cNvSpPr txBox="1"/>
          <p:nvPr/>
        </p:nvSpPr>
        <p:spPr>
          <a:xfrm>
            <a:off x="1371600" y="3236976"/>
            <a:ext cx="4846320" cy="640080"/>
          </a:xfrm>
          <a:prstGeom prst="rect">
            <a:avLst/>
          </a:prstGeom>
          <a:noFill/>
          <a:ln/>
        </p:spPr>
        <p:txBody>
          <a:bodyPr wrap="square" lIns="0" tIns="0" rIns="0" bIns="0" rtlCol="0" anchor="ctr"/>
          <a:lstStyle/>
          <a:p>
            <a:pPr indent="0" marL="0">
              <a:buNone/>
            </a:pPr>
            <a:r>
              <a:rPr lang="en-US" sz="1600" b="1" dirty="0">
                <a:solidFill>
                  <a:schemeClr val="tx1"/>
                </a:solidFill>
              </a:rPr>
              <a:t>Lignes — </a:t>
            </a:r>
            <a:pPr indent="0" marL="0">
              <a:buNone/>
            </a:pPr>
            <a:r>
              <a:rPr lang="en-US" sz="1600" dirty="0">
                <a:solidFill>
                  <a:schemeClr val="tx2"/>
                </a:solidFill>
              </a:rPr>
              <a:t>Nom et prix copiés pour chaque article</a:t>
            </a:r>
            <a:endParaRPr lang="en-US" sz="1600" dirty="0"/>
          </a:p>
        </p:txBody>
      </p:sp>
      <p:sp>
        <p:nvSpPr>
          <p:cNvPr id="12" name="etape-4"/>
          <p:cNvSpPr/>
          <p:nvPr/>
        </p:nvSpPr>
        <p:spPr>
          <a:xfrm>
            <a:off x="548640" y="4169664"/>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548640" y="4169664"/>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Text 12"/>
          <p:cNvSpPr txBox="1"/>
          <p:nvPr/>
        </p:nvSpPr>
        <p:spPr>
          <a:xfrm>
            <a:off x="1371600" y="4169664"/>
            <a:ext cx="4846320" cy="640080"/>
          </a:xfrm>
          <a:prstGeom prst="rect">
            <a:avLst/>
          </a:prstGeom>
          <a:noFill/>
          <a:ln/>
        </p:spPr>
        <p:txBody>
          <a:bodyPr wrap="square" lIns="0" tIns="0" rIns="0" bIns="0" rtlCol="0" anchor="ctr"/>
          <a:lstStyle/>
          <a:p>
            <a:pPr indent="0" marL="0">
              <a:buNone/>
            </a:pPr>
            <a:r>
              <a:rPr lang="en-US" sz="1600" b="1" dirty="0">
                <a:solidFill>
                  <a:schemeClr val="tx1"/>
                </a:solidFill>
              </a:rPr>
              <a:t>Enregistrement — </a:t>
            </a:r>
            <a:pPr indent="0" marL="0">
              <a:buNone/>
            </a:pPr>
            <a:r>
              <a:rPr lang="en-US" sz="1600" dirty="0">
                <a:solidFill>
                  <a:schemeClr val="tx2"/>
                </a:solidFill>
              </a:rPr>
              <a:t>persist() puis flush(), panier vidé</a:t>
            </a:r>
            <a:endParaRPr lang="en-US" sz="1600" dirty="0"/>
          </a:p>
        </p:txBody>
      </p:sp>
      <p:sp>
        <p:nvSpPr>
          <p:cNvPr id="15" name="etape-5"/>
          <p:cNvSpPr/>
          <p:nvPr/>
        </p:nvSpPr>
        <p:spPr>
          <a:xfrm>
            <a:off x="548640" y="5102352"/>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548640" y="5102352"/>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7" name="Text 15"/>
          <p:cNvSpPr txBox="1"/>
          <p:nvPr/>
        </p:nvSpPr>
        <p:spPr>
          <a:xfrm>
            <a:off x="1371600" y="5102352"/>
            <a:ext cx="4846320" cy="640080"/>
          </a:xfrm>
          <a:prstGeom prst="rect">
            <a:avLst/>
          </a:prstGeom>
          <a:noFill/>
          <a:ln/>
        </p:spPr>
        <p:txBody>
          <a:bodyPr wrap="square" lIns="0" tIns="0" rIns="0" bIns="0" rtlCol="0" anchor="ctr"/>
          <a:lstStyle/>
          <a:p>
            <a:pPr indent="0" marL="0">
              <a:buNone/>
            </a:pPr>
            <a:r>
              <a:rPr lang="en-US" sz="1600" b="1" dirty="0">
                <a:solidFill>
                  <a:schemeClr val="tx1"/>
                </a:solidFill>
              </a:rPr>
              <a:t>Email — </a:t>
            </a:r>
            <a:pPr indent="0" marL="0">
              <a:buNone/>
            </a:pPr>
            <a:r>
              <a:rPr lang="en-US" sz="1600" dirty="0">
                <a:solidFill>
                  <a:schemeClr val="tx2"/>
                </a:solidFill>
              </a:rPr>
              <a:t>Confirmation avec Symfony Mailer</a:t>
            </a:r>
            <a:endParaRPr lang="en-US" sz="1600" dirty="0"/>
          </a:p>
        </p:txBody>
      </p:sp>
      <p:pic>
        <p:nvPicPr>
          <p:cNvPr id="18" name="img-espace-client.png" descr="espace-client.png">    </p:cNvPr>
          <p:cNvPicPr>
            <a:picLocks noChangeAspect="1"/>
          </p:cNvPicPr>
          <p:nvPr/>
        </p:nvPicPr>
        <p:blipFill>
          <a:blip r:embed="rId1"/>
          <a:stretch>
            <a:fillRect/>
          </a:stretch>
        </p:blipFill>
        <p:spPr>
          <a:xfrm>
            <a:off x="6583680" y="2014538"/>
            <a:ext cx="5029200" cy="2828925"/>
          </a:xfrm>
          <a:prstGeom prst="rect">
            <a:avLst/>
          </a:prstGeom>
        </p:spPr>
      </p:pic>
      <p:sp>
        <p:nvSpPr>
          <p:cNvPr id="19" name="cadre-espace-client.png"/>
          <p:cNvSpPr/>
          <p:nvPr/>
        </p:nvSpPr>
        <p:spPr>
          <a:xfrm>
            <a:off x="6583680" y="2014538"/>
            <a:ext cx="5029200" cy="2828925"/>
          </a:xfrm>
          <a:prstGeom prst="rect">
            <a:avLst/>
          </a:prstGeom>
          <a:ln w="9525">
            <a:solidFill>
              <a:srgbClr val="CED4DA"/>
            </a:solidFill>
            <a:prstDash val="solid"/>
          </a:ln>
        </p:spPr>
      </p:sp>
      <p:sp>
        <p:nvSpPr>
          <p:cNvPr id="20" name="Text 17"/>
          <p:cNvSpPr txBox="1"/>
          <p:nvPr/>
        </p:nvSpPr>
        <p:spPr>
          <a:xfrm>
            <a:off x="6583680" y="5623560"/>
            <a:ext cx="5029200" cy="320040"/>
          </a:xfrm>
          <a:prstGeom prst="rect">
            <a:avLst/>
          </a:prstGeom>
          <a:noFill/>
          <a:ln/>
        </p:spPr>
        <p:txBody>
          <a:bodyPr wrap="square" lIns="0" tIns="0" rIns="0" bIns="0" rtlCol="0" anchor="ctr"/>
          <a:lstStyle/>
          <a:p>
            <a:pPr algn="ctr" indent="0" marL="0">
              <a:buNone/>
            </a:pPr>
            <a:r>
              <a:rPr lang="en-US" sz="1200" i="1" dirty="0">
                <a:solidFill>
                  <a:schemeClr val="accent4"/>
                </a:solidFill>
              </a:rPr>
              <a:t>Espace client : suivi du statut et facture PDF</a:t>
            </a:r>
            <a:endParaRPr lang="en-US" sz="12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La sécurité, risque par risque</a:t>
            </a:r>
            <a:endParaRPr lang="en-US" sz="3200" dirty="0"/>
          </a:p>
        </p:txBody>
      </p:sp>
      <p:sp>
        <p:nvSpPr>
          <p:cNvPr id="3" name="risque-0"/>
          <p:cNvSpPr/>
          <p:nvPr/>
        </p:nvSpPr>
        <p:spPr>
          <a:xfrm>
            <a:off x="548640" y="1417320"/>
            <a:ext cx="5394960" cy="1234440"/>
          </a:xfrm>
          <a:prstGeom prst="roundRect">
            <a:avLst>
              <a:gd name="adj" fmla="val 7407"/>
            </a:avLst>
          </a:prstGeom>
          <a:solidFill>
            <a:schemeClr val="bg2"/>
          </a:solidFill>
          <a:ln w="12700">
            <a:solidFill>
              <a:schemeClr val="bg2"/>
            </a:solidFill>
            <a:prstDash val="solid"/>
          </a:ln>
        </p:spPr>
      </p:sp>
      <p:sp>
        <p:nvSpPr>
          <p:cNvPr id="4" name="Text 2"/>
          <p:cNvSpPr txBox="1"/>
          <p:nvPr/>
        </p:nvSpPr>
        <p:spPr>
          <a:xfrm>
            <a:off x="822960" y="1554480"/>
            <a:ext cx="4937760" cy="960120"/>
          </a:xfrm>
          <a:prstGeom prst="rect">
            <a:avLst/>
          </a:prstGeom>
          <a:noFill/>
          <a:ln/>
        </p:spPr>
        <p:txBody>
          <a:bodyPr wrap="square" lIns="0" tIns="0" rIns="0" bIns="0" rtlCol="0" anchor="ctr"/>
          <a:lstStyle/>
          <a:p>
            <a:pPr indent="0" marL="0">
              <a:buNone/>
            </a:pPr>
            <a:r>
              <a:rPr lang="en-US" sz="1700" b="1" dirty="0">
                <a:solidFill>
                  <a:schemeClr val="accent5"/>
                </a:solidFill>
              </a:rPr>
              <a:t>Injection SQL</a:t>
            </a:r>
            <a:endParaRPr lang="en-US" sz="1700" dirty="0"/>
          </a:p>
          <a:p>
            <a:pPr indent="0" marL="0">
              <a:buNone/>
            </a:pPr>
            <a:r>
              <a:rPr lang="en-US" sz="1700" dirty="0">
                <a:solidFill>
                  <a:schemeClr val="tx2"/>
                </a:solidFill>
              </a:rPr>
              <a:t>Requêtes préparées (setParameter)</a:t>
            </a:r>
            <a:endParaRPr lang="en-US" sz="1700" dirty="0"/>
          </a:p>
        </p:txBody>
      </p:sp>
      <p:sp>
        <p:nvSpPr>
          <p:cNvPr id="5" name="risque-1"/>
          <p:cNvSpPr/>
          <p:nvPr/>
        </p:nvSpPr>
        <p:spPr>
          <a:xfrm>
            <a:off x="6217920" y="1417320"/>
            <a:ext cx="5394960" cy="1234440"/>
          </a:xfrm>
          <a:prstGeom prst="roundRect">
            <a:avLst>
              <a:gd name="adj" fmla="val 7407"/>
            </a:avLst>
          </a:prstGeom>
          <a:solidFill>
            <a:schemeClr val="bg2"/>
          </a:solidFill>
          <a:ln w="12700">
            <a:solidFill>
              <a:schemeClr val="bg2"/>
            </a:solidFill>
            <a:prstDash val="solid"/>
          </a:ln>
        </p:spPr>
      </p:sp>
      <p:sp>
        <p:nvSpPr>
          <p:cNvPr id="6" name="Text 4"/>
          <p:cNvSpPr txBox="1"/>
          <p:nvPr/>
        </p:nvSpPr>
        <p:spPr>
          <a:xfrm>
            <a:off x="6492240" y="1554480"/>
            <a:ext cx="4937760" cy="960120"/>
          </a:xfrm>
          <a:prstGeom prst="rect">
            <a:avLst/>
          </a:prstGeom>
          <a:noFill/>
          <a:ln/>
        </p:spPr>
        <p:txBody>
          <a:bodyPr wrap="square" lIns="0" tIns="0" rIns="0" bIns="0" rtlCol="0" anchor="ctr"/>
          <a:lstStyle/>
          <a:p>
            <a:pPr indent="0" marL="0">
              <a:buNone/>
            </a:pPr>
            <a:r>
              <a:rPr lang="en-US" sz="1700" b="1" dirty="0">
                <a:solidFill>
                  <a:schemeClr val="accent5"/>
                </a:solidFill>
              </a:rPr>
              <a:t>XSS</a:t>
            </a:r>
            <a:endParaRPr lang="en-US" sz="1700" dirty="0"/>
          </a:p>
          <a:p>
            <a:pPr indent="0" marL="0">
              <a:buNone/>
            </a:pPr>
            <a:r>
              <a:rPr lang="en-US" sz="1700" dirty="0">
                <a:solidFill>
                  <a:schemeClr val="tx2"/>
                </a:solidFill>
              </a:rPr>
              <a:t>Échappement Twig, textContent</a:t>
            </a:r>
            <a:endParaRPr lang="en-US" sz="1700" dirty="0"/>
          </a:p>
        </p:txBody>
      </p:sp>
      <p:sp>
        <p:nvSpPr>
          <p:cNvPr id="7" name="risque-2"/>
          <p:cNvSpPr/>
          <p:nvPr/>
        </p:nvSpPr>
        <p:spPr>
          <a:xfrm>
            <a:off x="548640" y="2880360"/>
            <a:ext cx="5394960" cy="1234440"/>
          </a:xfrm>
          <a:prstGeom prst="roundRect">
            <a:avLst>
              <a:gd name="adj" fmla="val 7407"/>
            </a:avLst>
          </a:prstGeom>
          <a:solidFill>
            <a:schemeClr val="bg2"/>
          </a:solidFill>
          <a:ln w="12700">
            <a:solidFill>
              <a:schemeClr val="bg2"/>
            </a:solidFill>
            <a:prstDash val="solid"/>
          </a:ln>
        </p:spPr>
      </p:sp>
      <p:sp>
        <p:nvSpPr>
          <p:cNvPr id="8" name="Text 6"/>
          <p:cNvSpPr txBox="1"/>
          <p:nvPr/>
        </p:nvSpPr>
        <p:spPr>
          <a:xfrm>
            <a:off x="822960" y="3017520"/>
            <a:ext cx="4937760" cy="960120"/>
          </a:xfrm>
          <a:prstGeom prst="rect">
            <a:avLst/>
          </a:prstGeom>
          <a:noFill/>
          <a:ln/>
        </p:spPr>
        <p:txBody>
          <a:bodyPr wrap="square" lIns="0" tIns="0" rIns="0" bIns="0" rtlCol="0" anchor="ctr"/>
          <a:lstStyle/>
          <a:p>
            <a:pPr indent="0" marL="0">
              <a:buNone/>
            </a:pPr>
            <a:r>
              <a:rPr lang="en-US" sz="1700" b="1" dirty="0">
                <a:solidFill>
                  <a:schemeClr val="accent5"/>
                </a:solidFill>
              </a:rPr>
              <a:t>CSRF</a:t>
            </a:r>
            <a:endParaRPr lang="en-US" sz="1700" dirty="0"/>
          </a:p>
          <a:p>
            <a:pPr indent="0" marL="0">
              <a:buNone/>
            </a:pPr>
            <a:r>
              <a:rPr lang="en-US" sz="1700" dirty="0">
                <a:solidFill>
                  <a:schemeClr val="tx2"/>
                </a:solidFill>
              </a:rPr>
              <a:t>Jeton sur tous les formulaires</a:t>
            </a:r>
            <a:endParaRPr lang="en-US" sz="1700" dirty="0"/>
          </a:p>
        </p:txBody>
      </p:sp>
      <p:sp>
        <p:nvSpPr>
          <p:cNvPr id="9" name="risque-3"/>
          <p:cNvSpPr/>
          <p:nvPr/>
        </p:nvSpPr>
        <p:spPr>
          <a:xfrm>
            <a:off x="6217920" y="2880360"/>
            <a:ext cx="5394960" cy="1234440"/>
          </a:xfrm>
          <a:prstGeom prst="roundRect">
            <a:avLst>
              <a:gd name="adj" fmla="val 7407"/>
            </a:avLst>
          </a:prstGeom>
          <a:solidFill>
            <a:schemeClr val="bg2"/>
          </a:solidFill>
          <a:ln w="12700">
            <a:solidFill>
              <a:schemeClr val="bg2"/>
            </a:solidFill>
            <a:prstDash val="solid"/>
          </a:ln>
        </p:spPr>
      </p:sp>
      <p:sp>
        <p:nvSpPr>
          <p:cNvPr id="10" name="Text 8"/>
          <p:cNvSpPr txBox="1"/>
          <p:nvPr/>
        </p:nvSpPr>
        <p:spPr>
          <a:xfrm>
            <a:off x="6492240" y="3017520"/>
            <a:ext cx="4937760" cy="960120"/>
          </a:xfrm>
          <a:prstGeom prst="rect">
            <a:avLst/>
          </a:prstGeom>
          <a:noFill/>
          <a:ln/>
        </p:spPr>
        <p:txBody>
          <a:bodyPr wrap="square" lIns="0" tIns="0" rIns="0" bIns="0" rtlCol="0" anchor="ctr"/>
          <a:lstStyle/>
          <a:p>
            <a:pPr indent="0" marL="0">
              <a:buNone/>
            </a:pPr>
            <a:r>
              <a:rPr lang="en-US" sz="1700" b="1" dirty="0">
                <a:solidFill>
                  <a:schemeClr val="accent5"/>
                </a:solidFill>
              </a:rPr>
              <a:t>Accès d’un autre client (IDOR)</a:t>
            </a:r>
            <a:endParaRPr lang="en-US" sz="1700" dirty="0"/>
          </a:p>
          <a:p>
            <a:pPr indent="0" marL="0">
              <a:buNone/>
            </a:pPr>
            <a:r>
              <a:rPr lang="en-US" sz="1700" dirty="0">
                <a:solidFill>
                  <a:schemeClr val="tx2"/>
                </a:solidFill>
              </a:rPr>
              <a:t>Voters CommandeVoter et AdresseVoter</a:t>
            </a:r>
            <a:endParaRPr lang="en-US" sz="1700" dirty="0"/>
          </a:p>
        </p:txBody>
      </p:sp>
      <p:sp>
        <p:nvSpPr>
          <p:cNvPr id="11" name="risque-4"/>
          <p:cNvSpPr/>
          <p:nvPr/>
        </p:nvSpPr>
        <p:spPr>
          <a:xfrm>
            <a:off x="548640" y="4343400"/>
            <a:ext cx="5394960" cy="1234440"/>
          </a:xfrm>
          <a:prstGeom prst="roundRect">
            <a:avLst>
              <a:gd name="adj" fmla="val 7407"/>
            </a:avLst>
          </a:prstGeom>
          <a:solidFill>
            <a:schemeClr val="bg2"/>
          </a:solidFill>
          <a:ln w="12700">
            <a:solidFill>
              <a:schemeClr val="bg2"/>
            </a:solidFill>
            <a:prstDash val="solid"/>
          </a:ln>
        </p:spPr>
      </p:sp>
      <p:sp>
        <p:nvSpPr>
          <p:cNvPr id="12" name="Text 10"/>
          <p:cNvSpPr txBox="1"/>
          <p:nvPr/>
        </p:nvSpPr>
        <p:spPr>
          <a:xfrm>
            <a:off x="822960" y="4480560"/>
            <a:ext cx="4937760" cy="960120"/>
          </a:xfrm>
          <a:prstGeom prst="rect">
            <a:avLst/>
          </a:prstGeom>
          <a:noFill/>
          <a:ln/>
        </p:spPr>
        <p:txBody>
          <a:bodyPr wrap="square" lIns="0" tIns="0" rIns="0" bIns="0" rtlCol="0" anchor="ctr"/>
          <a:lstStyle/>
          <a:p>
            <a:pPr indent="0" marL="0">
              <a:buNone/>
            </a:pPr>
            <a:r>
              <a:rPr lang="en-US" sz="1700" b="1" dirty="0">
                <a:solidFill>
                  <a:schemeClr val="accent5"/>
                </a:solidFill>
              </a:rPr>
              <a:t>Mots de passe</a:t>
            </a:r>
            <a:endParaRPr lang="en-US" sz="1700" dirty="0"/>
          </a:p>
          <a:p>
            <a:pPr indent="0" marL="0">
              <a:buNone/>
            </a:pPr>
            <a:r>
              <a:rPr lang="en-US" sz="1700" dirty="0">
                <a:solidFill>
                  <a:schemeClr val="tx2"/>
                </a:solidFill>
              </a:rPr>
              <a:t>Hachage bcrypt</a:t>
            </a:r>
            <a:endParaRPr lang="en-US" sz="1700" dirty="0"/>
          </a:p>
        </p:txBody>
      </p:sp>
      <p:sp>
        <p:nvSpPr>
          <p:cNvPr id="13" name="risque-5"/>
          <p:cNvSpPr/>
          <p:nvPr/>
        </p:nvSpPr>
        <p:spPr>
          <a:xfrm>
            <a:off x="6217920" y="4343400"/>
            <a:ext cx="5394960" cy="1234440"/>
          </a:xfrm>
          <a:prstGeom prst="roundRect">
            <a:avLst>
              <a:gd name="adj" fmla="val 7407"/>
            </a:avLst>
          </a:prstGeom>
          <a:solidFill>
            <a:schemeClr val="bg2"/>
          </a:solidFill>
          <a:ln w="12700">
            <a:solidFill>
              <a:schemeClr val="bg2"/>
            </a:solidFill>
            <a:prstDash val="solid"/>
          </a:ln>
        </p:spPr>
      </p:sp>
      <p:sp>
        <p:nvSpPr>
          <p:cNvPr id="14" name="Text 12"/>
          <p:cNvSpPr txBox="1"/>
          <p:nvPr/>
        </p:nvSpPr>
        <p:spPr>
          <a:xfrm>
            <a:off x="6492240" y="4480560"/>
            <a:ext cx="4937760" cy="960120"/>
          </a:xfrm>
          <a:prstGeom prst="rect">
            <a:avLst/>
          </a:prstGeom>
          <a:noFill/>
          <a:ln/>
        </p:spPr>
        <p:txBody>
          <a:bodyPr wrap="square" lIns="0" tIns="0" rIns="0" bIns="0" rtlCol="0" anchor="ctr"/>
          <a:lstStyle/>
          <a:p>
            <a:pPr indent="0" marL="0">
              <a:buNone/>
            </a:pPr>
            <a:r>
              <a:rPr lang="en-US" sz="1700" b="1" dirty="0">
                <a:solidFill>
                  <a:schemeClr val="accent5"/>
                </a:solidFill>
              </a:rPr>
              <a:t>Pages réservées</a:t>
            </a:r>
            <a:endParaRPr lang="en-US" sz="1700" dirty="0"/>
          </a:p>
          <a:p>
            <a:pPr indent="0" marL="0">
              <a:buNone/>
            </a:pPr>
            <a:r>
              <a:rPr lang="en-US" sz="1700" dirty="0">
                <a:solidFill>
                  <a:schemeClr val="tx2"/>
                </a:solidFill>
              </a:rPr>
              <a:t>access_control par rôle</a:t>
            </a:r>
            <a:endParaRPr lang="en-US" sz="1700" dirty="0"/>
          </a:p>
        </p:txBody>
      </p:sp>
      <p:sp>
        <p:nvSpPr>
          <p:cNvPr id="15" name="Text 13"/>
          <p:cNvSpPr txBox="1"/>
          <p:nvPr/>
        </p:nvSpPr>
        <p:spPr>
          <a:xfrm>
            <a:off x="548640" y="5852160"/>
            <a:ext cx="11064240" cy="320040"/>
          </a:xfrm>
          <a:prstGeom prst="rect">
            <a:avLst/>
          </a:prstGeom>
          <a:noFill/>
          <a:ln/>
        </p:spPr>
        <p:txBody>
          <a:bodyPr wrap="square" lIns="0" tIns="0" rIns="0" bIns="0" rtlCol="0" anchor="ctr"/>
          <a:lstStyle/>
          <a:p>
            <a:pPr indent="0" marL="0">
              <a:buNone/>
            </a:pPr>
            <a:r>
              <a:rPr lang="en-US" sz="1300" i="1" dirty="0">
                <a:solidFill>
                  <a:schemeClr val="accent4"/>
                </a:solidFill>
              </a:rPr>
              <a:t>Référence : OWASP Top 10 (2025)</a:t>
            </a:r>
            <a:endParaRPr lang="en-US" sz="13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Optimisation : de 10 à 2 requêtes</a:t>
            </a:r>
            <a:endParaRPr lang="en-US" sz="3200" dirty="0"/>
          </a:p>
        </p:txBody>
      </p:sp>
      <p:sp>
        <p:nvSpPr>
          <p:cNvPr id="3" name="Text 1"/>
          <p:cNvSpPr txBox="1"/>
          <p:nvPr/>
        </p:nvSpPr>
        <p:spPr>
          <a:xfrm>
            <a:off x="548640" y="1645920"/>
            <a:ext cx="1828800" cy="1005840"/>
          </a:xfrm>
          <a:prstGeom prst="rect">
            <a:avLst/>
          </a:prstGeom>
          <a:noFill/>
          <a:ln/>
        </p:spPr>
        <p:txBody>
          <a:bodyPr wrap="square" lIns="0" tIns="0" rIns="0" bIns="0" rtlCol="0" anchor="ctr"/>
          <a:lstStyle/>
          <a:p>
            <a:pPr algn="ctr" indent="0" marL="0">
              <a:buNone/>
            </a:pPr>
            <a:r>
              <a:rPr lang="en-US" sz="6000" b="1" dirty="0">
                <a:solidFill>
                  <a:schemeClr val="accent5"/>
                </a:solidFill>
              </a:rPr>
              <a:t>10</a:t>
            </a:r>
            <a:endParaRPr lang="en-US" sz="6000" dirty="0"/>
          </a:p>
        </p:txBody>
      </p:sp>
      <p:sp>
        <p:nvSpPr>
          <p:cNvPr id="4" name="Text 2"/>
          <p:cNvSpPr txBox="1"/>
          <p:nvPr/>
        </p:nvSpPr>
        <p:spPr>
          <a:xfrm>
            <a:off x="548640" y="2651760"/>
            <a:ext cx="1828800" cy="457200"/>
          </a:xfrm>
          <a:prstGeom prst="rect">
            <a:avLst/>
          </a:prstGeom>
          <a:noFill/>
          <a:ln/>
        </p:spPr>
        <p:txBody>
          <a:bodyPr wrap="square" lIns="0" tIns="0" rIns="0" bIns="0" rtlCol="0" anchor="t"/>
          <a:lstStyle/>
          <a:p>
            <a:pPr algn="ctr" indent="0" marL="0">
              <a:buNone/>
            </a:pPr>
            <a:r>
              <a:rPr lang="en-US" sz="1500" dirty="0">
                <a:solidFill>
                  <a:schemeClr val="tx2"/>
                </a:solidFill>
              </a:rPr>
              <a:t>requêtes avant</a:t>
            </a:r>
            <a:endParaRPr lang="en-US" sz="1500" dirty="0"/>
          </a:p>
        </p:txBody>
      </p:sp>
      <p:sp>
        <p:nvSpPr>
          <p:cNvPr id="5" name="Text 3"/>
          <p:cNvSpPr txBox="1"/>
          <p:nvPr/>
        </p:nvSpPr>
        <p:spPr>
          <a:xfrm>
            <a:off x="2377440" y="1645920"/>
            <a:ext cx="822960" cy="1005840"/>
          </a:xfrm>
          <a:prstGeom prst="rect">
            <a:avLst/>
          </a:prstGeom>
          <a:noFill/>
          <a:ln/>
        </p:spPr>
        <p:txBody>
          <a:bodyPr wrap="square" lIns="0" tIns="0" rIns="0" bIns="0" rtlCol="0" anchor="ctr"/>
          <a:lstStyle/>
          <a:p>
            <a:pPr algn="ctr" indent="0" marL="0">
              <a:buNone/>
            </a:pPr>
            <a:r>
              <a:rPr lang="en-US" sz="4800" dirty="0">
                <a:solidFill>
                  <a:schemeClr val="accent4"/>
                </a:solidFill>
              </a:rPr>
              <a:t>→</a:t>
            </a:r>
            <a:endParaRPr lang="en-US" sz="4800" dirty="0"/>
          </a:p>
        </p:txBody>
      </p:sp>
      <p:sp>
        <p:nvSpPr>
          <p:cNvPr id="6" name="Text 4"/>
          <p:cNvSpPr txBox="1"/>
          <p:nvPr/>
        </p:nvSpPr>
        <p:spPr>
          <a:xfrm>
            <a:off x="3200400" y="1645920"/>
            <a:ext cx="1828800" cy="1005840"/>
          </a:xfrm>
          <a:prstGeom prst="rect">
            <a:avLst/>
          </a:prstGeom>
          <a:noFill/>
          <a:ln/>
        </p:spPr>
        <p:txBody>
          <a:bodyPr wrap="square" lIns="0" tIns="0" rIns="0" bIns="0" rtlCol="0" anchor="ctr"/>
          <a:lstStyle/>
          <a:p>
            <a:pPr algn="ctr" indent="0" marL="0">
              <a:buNone/>
            </a:pPr>
            <a:r>
              <a:rPr lang="en-US" sz="6000" b="1" dirty="0">
                <a:solidFill>
                  <a:schemeClr val="accent3"/>
                </a:solidFill>
              </a:rPr>
              <a:t>2</a:t>
            </a:r>
            <a:endParaRPr lang="en-US" sz="6000" dirty="0"/>
          </a:p>
        </p:txBody>
      </p:sp>
      <p:sp>
        <p:nvSpPr>
          <p:cNvPr id="7" name="Text 5"/>
          <p:cNvSpPr txBox="1"/>
          <p:nvPr/>
        </p:nvSpPr>
        <p:spPr>
          <a:xfrm>
            <a:off x="3200400" y="2651760"/>
            <a:ext cx="1828800" cy="457200"/>
          </a:xfrm>
          <a:prstGeom prst="rect">
            <a:avLst/>
          </a:prstGeom>
          <a:noFill/>
          <a:ln/>
        </p:spPr>
        <p:txBody>
          <a:bodyPr wrap="square" lIns="0" tIns="0" rIns="0" bIns="0" rtlCol="0" anchor="t"/>
          <a:lstStyle/>
          <a:p>
            <a:pPr algn="ctr" indent="0" marL="0">
              <a:buNone/>
            </a:pPr>
            <a:r>
              <a:rPr lang="en-US" sz="1500" dirty="0">
                <a:solidFill>
                  <a:schemeClr val="tx2"/>
                </a:solidFill>
              </a:rPr>
              <a:t>requêtes après</a:t>
            </a:r>
            <a:endParaRPr lang="en-US" sz="1500" dirty="0"/>
          </a:p>
        </p:txBody>
      </p:sp>
      <p:sp>
        <p:nvSpPr>
          <p:cNvPr id="8" name="Text 6"/>
          <p:cNvSpPr txBox="1"/>
          <p:nvPr/>
        </p:nvSpPr>
        <p:spPr>
          <a:xfrm>
            <a:off x="548640" y="3657600"/>
            <a:ext cx="475488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Problème N+1 : 1 requête pour la liste, puis 1 par produit</a:t>
            </a:r>
            <a:endParaRPr lang="en-US" sz="1600" dirty="0"/>
          </a:p>
          <a:p>
            <a:pPr marL="342900" indent="-342900">
              <a:spcAft>
                <a:spcPts val="1000"/>
              </a:spcAft>
              <a:buSzPct val="100000"/>
              <a:buChar char="•"/>
            </a:pPr>
            <a:r>
              <a:rPr lang="en-US" sz="1600" dirty="0">
                <a:solidFill>
                  <a:schemeClr val="tx2"/>
                </a:solidFill>
              </a:rPr>
              <a:t>Trouvé avec le Profiler de Symfony</a:t>
            </a:r>
            <a:endParaRPr lang="en-US" sz="1600" dirty="0"/>
          </a:p>
          <a:p>
            <a:pPr marL="342900" indent="-342900">
              <a:spcAft>
                <a:spcPts val="1000"/>
              </a:spcAft>
              <a:buSzPct val="100000"/>
              <a:buChar char="•"/>
            </a:pPr>
            <a:r>
              <a:rPr lang="en-US" sz="1600" dirty="0">
                <a:solidFill>
                  <a:schemeClr val="tx2"/>
                </a:solidFill>
              </a:rPr>
              <a:t>Corrigé avec leftJoin() + addSelect()</a:t>
            </a:r>
            <a:endParaRPr lang="en-US" sz="1600" dirty="0"/>
          </a:p>
        </p:txBody>
      </p:sp>
      <p:pic>
        <p:nvPicPr>
          <p:cNvPr id="9" name="img-profiler.png" descr="profiler.png">    </p:cNvPr>
          <p:cNvPicPr>
            <a:picLocks noChangeAspect="1"/>
          </p:cNvPicPr>
          <p:nvPr/>
        </p:nvPicPr>
        <p:blipFill>
          <a:blip r:embed="rId1"/>
          <a:stretch>
            <a:fillRect/>
          </a:stretch>
        </p:blipFill>
        <p:spPr>
          <a:xfrm>
            <a:off x="5669280" y="1803082"/>
            <a:ext cx="5943600" cy="3343275"/>
          </a:xfrm>
          <a:prstGeom prst="rect">
            <a:avLst/>
          </a:prstGeom>
        </p:spPr>
      </p:pic>
      <p:sp>
        <p:nvSpPr>
          <p:cNvPr id="10" name="cadre-profiler.png"/>
          <p:cNvSpPr/>
          <p:nvPr/>
        </p:nvSpPr>
        <p:spPr>
          <a:xfrm>
            <a:off x="5669280" y="1803082"/>
            <a:ext cx="5943600" cy="3343275"/>
          </a:xfrm>
          <a:prstGeom prst="rect">
            <a:avLst/>
          </a:prstGeom>
          <a:ln w="9525">
            <a:solidFill>
              <a:srgbClr val="CED4DA"/>
            </a:solidFill>
            <a:prstDash val="solid"/>
          </a:ln>
        </p:spPr>
      </p:sp>
      <p:sp>
        <p:nvSpPr>
          <p:cNvPr id="11" name="Text 8"/>
          <p:cNvSpPr txBox="1"/>
          <p:nvPr/>
        </p:nvSpPr>
        <p:spPr>
          <a:xfrm>
            <a:off x="5669280" y="5669280"/>
            <a:ext cx="5943600" cy="320040"/>
          </a:xfrm>
          <a:prstGeom prst="rect">
            <a:avLst/>
          </a:prstGeom>
          <a:noFill/>
          <a:ln/>
        </p:spPr>
        <p:txBody>
          <a:bodyPr wrap="square" lIns="0" tIns="0" rIns="0" bIns="0" rtlCol="0" anchor="ctr"/>
          <a:lstStyle/>
          <a:p>
            <a:pPr algn="ctr" indent="0" marL="0">
              <a:buNone/>
            </a:pPr>
            <a:r>
              <a:rPr lang="en-US" sz="1200" i="1" dirty="0">
                <a:solidFill>
                  <a:schemeClr val="accent4"/>
                </a:solidFill>
              </a:rPr>
              <a:t>Profiler, onglet Doctrine : 2 requêtes</a:t>
            </a:r>
            <a:endParaRPr lang="en-US" sz="12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Tests : jeu d’essai et PHPUnit</a:t>
            </a:r>
            <a:endParaRPr lang="en-US" sz="3200" dirty="0"/>
          </a:p>
        </p:txBody>
      </p:sp>
      <p:sp>
        <p:nvSpPr>
          <p:cNvPr id="3" name="Text 1"/>
          <p:cNvSpPr txBox="1"/>
          <p:nvPr/>
        </p:nvSpPr>
        <p:spPr>
          <a:xfrm>
            <a:off x="548640" y="1463040"/>
            <a:ext cx="2926080" cy="1005840"/>
          </a:xfrm>
          <a:prstGeom prst="rect">
            <a:avLst/>
          </a:prstGeom>
          <a:noFill/>
          <a:ln/>
        </p:spPr>
        <p:txBody>
          <a:bodyPr wrap="square" lIns="0" tIns="0" rIns="0" bIns="0" rtlCol="0" anchor="ctr"/>
          <a:lstStyle/>
          <a:p>
            <a:pPr algn="ctr" indent="0" marL="0">
              <a:buNone/>
            </a:pPr>
            <a:r>
              <a:rPr lang="en-US" sz="6000" b="1" dirty="0">
                <a:solidFill>
                  <a:schemeClr val="accent3"/>
                </a:solidFill>
              </a:rPr>
              <a:t>17</a:t>
            </a:r>
            <a:endParaRPr lang="en-US" sz="6000" dirty="0"/>
          </a:p>
        </p:txBody>
      </p:sp>
      <p:sp>
        <p:nvSpPr>
          <p:cNvPr id="4" name="Text 2"/>
          <p:cNvSpPr txBox="1"/>
          <p:nvPr/>
        </p:nvSpPr>
        <p:spPr>
          <a:xfrm>
            <a:off x="548640" y="2468880"/>
            <a:ext cx="2926080" cy="457200"/>
          </a:xfrm>
          <a:prstGeom prst="rect">
            <a:avLst/>
          </a:prstGeom>
          <a:noFill/>
          <a:ln/>
        </p:spPr>
        <p:txBody>
          <a:bodyPr wrap="square" lIns="0" tIns="0" rIns="0" bIns="0" rtlCol="0" anchor="t"/>
          <a:lstStyle/>
          <a:p>
            <a:pPr algn="ctr" indent="0" marL="0">
              <a:buNone/>
            </a:pPr>
            <a:r>
              <a:rPr lang="en-US" sz="1500" dirty="0">
                <a:solidFill>
                  <a:schemeClr val="tx2"/>
                </a:solidFill>
              </a:rPr>
              <a:t>tests PHPUnit au vert</a:t>
            </a:r>
            <a:endParaRPr lang="en-US" sz="1500" dirty="0"/>
          </a:p>
        </p:txBody>
      </p:sp>
      <p:sp>
        <p:nvSpPr>
          <p:cNvPr id="5" name="Text 3"/>
          <p:cNvSpPr txBox="1"/>
          <p:nvPr/>
        </p:nvSpPr>
        <p:spPr>
          <a:xfrm>
            <a:off x="548640" y="3200400"/>
            <a:ext cx="2926080" cy="1005840"/>
          </a:xfrm>
          <a:prstGeom prst="rect">
            <a:avLst/>
          </a:prstGeom>
          <a:noFill/>
          <a:ln/>
        </p:spPr>
        <p:txBody>
          <a:bodyPr wrap="square" lIns="0" tIns="0" rIns="0" bIns="0" rtlCol="0" anchor="ctr"/>
          <a:lstStyle/>
          <a:p>
            <a:pPr algn="ctr" indent="0" marL="0">
              <a:buNone/>
            </a:pPr>
            <a:r>
              <a:rPr lang="en-US" sz="6000" b="1" dirty="0">
                <a:solidFill>
                  <a:schemeClr val="accent1"/>
                </a:solidFill>
              </a:rPr>
              <a:t>16</a:t>
            </a:r>
            <a:endParaRPr lang="en-US" sz="6000" dirty="0"/>
          </a:p>
        </p:txBody>
      </p:sp>
      <p:sp>
        <p:nvSpPr>
          <p:cNvPr id="6" name="Text 4"/>
          <p:cNvSpPr txBox="1"/>
          <p:nvPr/>
        </p:nvSpPr>
        <p:spPr>
          <a:xfrm>
            <a:off x="548640" y="4206240"/>
            <a:ext cx="2926080" cy="457200"/>
          </a:xfrm>
          <a:prstGeom prst="rect">
            <a:avLst/>
          </a:prstGeom>
          <a:noFill/>
          <a:ln/>
        </p:spPr>
        <p:txBody>
          <a:bodyPr wrap="square" lIns="0" tIns="0" rIns="0" bIns="0" rtlCol="0" anchor="t"/>
          <a:lstStyle/>
          <a:p>
            <a:pPr algn="ctr" indent="0" marL="0">
              <a:buNone/>
            </a:pPr>
            <a:r>
              <a:rPr lang="en-US" sz="1500" dirty="0">
                <a:solidFill>
                  <a:schemeClr val="tx2"/>
                </a:solidFill>
              </a:rPr>
              <a:t>cas testés dans le jeu d’essai</a:t>
            </a:r>
            <a:endParaRPr lang="en-US" sz="1500" dirty="0"/>
          </a:p>
        </p:txBody>
      </p:sp>
      <p:pic>
        <p:nvPicPr>
          <p:cNvPr id="7" name="img-phpunit.png" descr="phpunit.png">    </p:cNvPr>
          <p:cNvPicPr>
            <a:picLocks noChangeAspect="1"/>
          </p:cNvPicPr>
          <p:nvPr/>
        </p:nvPicPr>
        <p:blipFill>
          <a:blip r:embed="rId1"/>
          <a:stretch>
            <a:fillRect/>
          </a:stretch>
        </p:blipFill>
        <p:spPr>
          <a:xfrm>
            <a:off x="3840480" y="1402586"/>
            <a:ext cx="7772400" cy="3046987"/>
          </a:xfrm>
          <a:prstGeom prst="rect">
            <a:avLst/>
          </a:prstGeom>
        </p:spPr>
      </p:pic>
      <p:sp>
        <p:nvSpPr>
          <p:cNvPr id="8" name="cadre-phpunit.png"/>
          <p:cNvSpPr/>
          <p:nvPr/>
        </p:nvSpPr>
        <p:spPr>
          <a:xfrm>
            <a:off x="3840480" y="1402586"/>
            <a:ext cx="7772400" cy="3046987"/>
          </a:xfrm>
          <a:prstGeom prst="rect">
            <a:avLst/>
          </a:prstGeom>
          <a:ln w="9525">
            <a:solidFill>
              <a:srgbClr val="CED4DA"/>
            </a:solidFill>
            <a:prstDash val="solid"/>
          </a:ln>
        </p:spPr>
      </p:sp>
      <p:sp>
        <p:nvSpPr>
          <p:cNvPr id="9" name="Text 6"/>
          <p:cNvSpPr txBox="1"/>
          <p:nvPr/>
        </p:nvSpPr>
        <p:spPr>
          <a:xfrm>
            <a:off x="3840480" y="4709160"/>
            <a:ext cx="7772400" cy="14630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Scénario « passer une commande » : 10 étapes conformes</a:t>
            </a:r>
            <a:endParaRPr lang="en-US" sz="1500" dirty="0"/>
          </a:p>
          <a:p>
            <a:pPr marL="342900" indent="-342900">
              <a:spcAft>
                <a:spcPts val="1000"/>
              </a:spcAft>
              <a:buSzPct val="100000"/>
              <a:buChar char="•"/>
            </a:pPr>
            <a:r>
              <a:rPr lang="en-US" sz="1500" dirty="0">
                <a:solidFill>
                  <a:schemeClr val="tx2"/>
                </a:solidFill>
              </a:rPr>
              <a:t>Cas d’erreur : non connecté, panier vide, code postal faux, adresse ou facture d’un autre (403), jeton modifié (400)</a:t>
            </a:r>
            <a:endParaRPr lang="en-US" sz="15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731520" y="2011680"/>
            <a:ext cx="10698480" cy="731520"/>
          </a:xfrm>
          <a:prstGeom prst="rect">
            <a:avLst/>
          </a:prstGeom>
          <a:noFill/>
          <a:ln/>
        </p:spPr>
        <p:txBody>
          <a:bodyPr wrap="square" lIns="0" tIns="0" rIns="0" bIns="0" rtlCol="0" anchor="b"/>
          <a:lstStyle/>
          <a:p>
            <a:pPr indent="0" marL="0">
              <a:buNone/>
            </a:pPr>
            <a:r>
              <a:rPr lang="en-US" sz="2400" b="1" dirty="0">
                <a:solidFill>
                  <a:schemeClr val="accent2"/>
                </a:solidFill>
              </a:rPr>
              <a:t>Partie 4</a:t>
            </a:r>
            <a:endParaRPr lang="en-US" sz="2400" dirty="0"/>
          </a:p>
        </p:txBody>
      </p:sp>
      <p:sp>
        <p:nvSpPr>
          <p:cNvPr id="3" name="Text 0"/>
          <p:cNvSpPr/>
          <p:nvPr>
            <p:ph idx="100" type="title" hasCustomPrompt="1"/>
          </p:nvPr>
        </p:nvSpPr>
        <p:spPr>
          <a:xfrm>
            <a:off x="731520" y="2743200"/>
            <a:ext cx="10698480" cy="1097280"/>
          </a:xfrm>
          <a:prstGeom prst="rect">
            <a:avLst/>
          </a:prstGeom>
          <a:noFill/>
          <a:ln/>
        </p:spPr>
        <p:txBody>
          <a:bodyPr wrap="square" lIns="0" tIns="0" rIns="0" bIns="0" rtlCol="0" anchor="ctr"/>
          <a:lstStyle/>
          <a:p>
            <a:pPr algn="l" indent="0" marL="0">
              <a:buNone/>
            </a:pPr>
            <a:r>
              <a:rPr lang="en-US" sz="4400" b="1" dirty="0">
                <a:solidFill>
                  <a:schemeClr val="bg1"/>
                </a:solidFill>
              </a:rPr>
              <a:t>Mise en ligne et bilan</a:t>
            </a:r>
            <a:endParaRPr lang="en-US" sz="4400" dirty="0"/>
          </a:p>
        </p:txBody>
      </p:sp>
      <p:sp>
        <p:nvSpPr>
          <p:cNvPr id="25" name="Slide Number Placeholder 0"/>
          <p:cNvSpPr>
            <a:spLocks noGrp="1"/>
          </p:cNvSpPr>
          <p:nvPr>
            <p:ph type="sldNum" sz="quarter" idx="4294967295"/>
          </p:nvPr>
        </p:nvSpPr>
        <p:spPr>
          <a:xfrm>
            <a:off x="11247120" y="630936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Déploiement sur Alwaysdata</a:t>
            </a:r>
            <a:endParaRPr lang="en-US" sz="3200" dirty="0"/>
          </a:p>
        </p:txBody>
      </p:sp>
      <p:sp>
        <p:nvSpPr>
          <p:cNvPr id="3" name="Text 1"/>
          <p:cNvSpPr txBox="1"/>
          <p:nvPr/>
        </p:nvSpPr>
        <p:spPr>
          <a:xfrm>
            <a:off x="548640" y="1371600"/>
            <a:ext cx="512064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2"/>
                </a:solidFill>
              </a:rPr>
              <a:t>Racine du site sur public/ : le code reste caché</a:t>
            </a:r>
            <a:endParaRPr lang="en-US" sz="1600" dirty="0"/>
          </a:p>
          <a:p>
            <a:pPr marL="342900" indent="-342900">
              <a:spcAft>
                <a:spcPts val="1000"/>
              </a:spcAft>
              <a:buSzPct val="100000"/>
              <a:buChar char="•"/>
            </a:pPr>
            <a:r>
              <a:rPr lang="en-US" sz="1600" dirty="0">
                <a:solidFill>
                  <a:schemeClr val="tx2"/>
                </a:solidFill>
              </a:rPr>
              <a:t>git clone en SSH, secrets dans .env.local</a:t>
            </a:r>
            <a:endParaRPr lang="en-US" sz="1600" dirty="0"/>
          </a:p>
          <a:p>
            <a:pPr marL="342900" indent="-342900">
              <a:spcAft>
                <a:spcPts val="1000"/>
              </a:spcAft>
              <a:buSzPct val="100000"/>
              <a:buChar char="•"/>
            </a:pPr>
            <a:r>
              <a:rPr lang="en-US" sz="1600" dirty="0">
                <a:solidFill>
                  <a:schemeClr val="tx2"/>
                </a:solidFill>
              </a:rPr>
              <a:t>composer install --no-dev, migrations, asset-map:compile</a:t>
            </a:r>
            <a:endParaRPr lang="en-US" sz="1600" dirty="0"/>
          </a:p>
          <a:p>
            <a:pPr marL="342900" indent="-342900">
              <a:spcAft>
                <a:spcPts val="1000"/>
              </a:spcAft>
              <a:buSzPct val="100000"/>
              <a:buChar char="•"/>
            </a:pPr>
            <a:r>
              <a:rPr lang="en-US" sz="1600" dirty="0">
                <a:solidFill>
                  <a:schemeClr val="tx2"/>
                </a:solidFill>
              </a:rPr>
              <a:t>Emails de test avec Mailtrap</a:t>
            </a:r>
            <a:endParaRPr lang="en-US" sz="1600" dirty="0"/>
          </a:p>
          <a:p>
            <a:pPr marL="342900" indent="-342900">
              <a:spcAft>
                <a:spcPts val="1000"/>
              </a:spcAft>
              <a:buSzPct val="100000"/>
              <a:buChar char="•"/>
            </a:pPr>
            <a:r>
              <a:rPr lang="en-US" sz="1600" dirty="0">
                <a:solidFill>
                  <a:schemeClr val="tx2"/>
                </a:solidFill>
              </a:rPr>
              <a:t>Procédure écrite dans le README</a:t>
            </a:r>
            <a:endParaRPr lang="en-US" sz="1600" dirty="0"/>
          </a:p>
        </p:txBody>
      </p:sp>
      <p:sp>
        <p:nvSpPr>
          <p:cNvPr id="4" name="Text 2"/>
          <p:cNvSpPr txBox="1"/>
          <p:nvPr/>
        </p:nvSpPr>
        <p:spPr>
          <a:xfrm>
            <a:off x="548640" y="4754880"/>
            <a:ext cx="5120640" cy="1097280"/>
          </a:xfrm>
          <a:prstGeom prst="rect">
            <a:avLst/>
          </a:prstGeom>
          <a:noFill/>
          <a:ln/>
        </p:spPr>
        <p:txBody>
          <a:bodyPr wrap="square" lIns="0" tIns="0" rIns="0" bIns="0" rtlCol="0" anchor="ctr"/>
          <a:lstStyle/>
          <a:p>
            <a:pPr indent="0" marL="0">
              <a:buNone/>
            </a:pPr>
            <a:r>
              <a:rPr lang="en-US" sz="1400" i="1" dirty="0">
                <a:solidFill>
                  <a:schemeClr val="accent4"/>
                </a:solidFill>
              </a:rPr>
              <a:t>Problèmes résolus : sous-domaine refusé, « @ » dans le mot de passe (encodé %40), racine mal réglée.</a:t>
            </a:r>
            <a:endParaRPr lang="en-US" sz="1400" dirty="0"/>
          </a:p>
        </p:txBody>
      </p:sp>
      <p:sp>
        <p:nvSpPr>
          <p:cNvPr id="5" name="Text 3"/>
          <p:cNvSpPr txBox="1"/>
          <p:nvPr/>
        </p:nvSpPr>
        <p:spPr>
          <a:xfrm>
            <a:off x="6035040" y="1371600"/>
            <a:ext cx="2651760" cy="1005840"/>
          </a:xfrm>
          <a:prstGeom prst="rect">
            <a:avLst/>
          </a:prstGeom>
          <a:noFill/>
          <a:ln/>
        </p:spPr>
        <p:txBody>
          <a:bodyPr wrap="square" lIns="0" tIns="0" rIns="0" bIns="0" rtlCol="0" anchor="ctr"/>
          <a:lstStyle/>
          <a:p>
            <a:pPr algn="ctr" indent="0" marL="0">
              <a:buNone/>
            </a:pPr>
            <a:r>
              <a:rPr lang="en-US" sz="6000" b="1" dirty="0">
                <a:solidFill>
                  <a:schemeClr val="accent3"/>
                </a:solidFill>
              </a:rPr>
              <a:t>100</a:t>
            </a:r>
            <a:endParaRPr lang="en-US" sz="6000" dirty="0"/>
          </a:p>
        </p:txBody>
      </p:sp>
      <p:sp>
        <p:nvSpPr>
          <p:cNvPr id="6" name="Text 4"/>
          <p:cNvSpPr txBox="1"/>
          <p:nvPr/>
        </p:nvSpPr>
        <p:spPr>
          <a:xfrm>
            <a:off x="6035040" y="2377440"/>
            <a:ext cx="2651760" cy="457200"/>
          </a:xfrm>
          <a:prstGeom prst="rect">
            <a:avLst/>
          </a:prstGeom>
          <a:noFill/>
          <a:ln/>
        </p:spPr>
        <p:txBody>
          <a:bodyPr wrap="square" lIns="0" tIns="0" rIns="0" bIns="0" rtlCol="0" anchor="t"/>
          <a:lstStyle/>
          <a:p>
            <a:pPr algn="ctr" indent="0" marL="0">
              <a:buNone/>
            </a:pPr>
            <a:r>
              <a:rPr lang="en-US" sz="1500" dirty="0">
                <a:solidFill>
                  <a:schemeClr val="tx2"/>
                </a:solidFill>
              </a:rPr>
              <a:t>Performances</a:t>
            </a:r>
            <a:endParaRPr lang="en-US" sz="1500" dirty="0"/>
          </a:p>
        </p:txBody>
      </p:sp>
      <p:sp>
        <p:nvSpPr>
          <p:cNvPr id="7" name="Text 5"/>
          <p:cNvSpPr txBox="1"/>
          <p:nvPr/>
        </p:nvSpPr>
        <p:spPr>
          <a:xfrm>
            <a:off x="8869680" y="1371600"/>
            <a:ext cx="2651760" cy="1005840"/>
          </a:xfrm>
          <a:prstGeom prst="rect">
            <a:avLst/>
          </a:prstGeom>
          <a:noFill/>
          <a:ln/>
        </p:spPr>
        <p:txBody>
          <a:bodyPr wrap="square" lIns="0" tIns="0" rIns="0" bIns="0" rtlCol="0" anchor="ctr"/>
          <a:lstStyle/>
          <a:p>
            <a:pPr algn="ctr" indent="0" marL="0">
              <a:buNone/>
            </a:pPr>
            <a:r>
              <a:rPr lang="en-US" sz="6000" b="1" dirty="0">
                <a:solidFill>
                  <a:schemeClr val="accent3"/>
                </a:solidFill>
              </a:rPr>
              <a:t>100</a:t>
            </a:r>
            <a:endParaRPr lang="en-US" sz="6000" dirty="0"/>
          </a:p>
        </p:txBody>
      </p:sp>
      <p:sp>
        <p:nvSpPr>
          <p:cNvPr id="8" name="Text 6"/>
          <p:cNvSpPr txBox="1"/>
          <p:nvPr/>
        </p:nvSpPr>
        <p:spPr>
          <a:xfrm>
            <a:off x="8869680" y="2377440"/>
            <a:ext cx="2651760" cy="457200"/>
          </a:xfrm>
          <a:prstGeom prst="rect">
            <a:avLst/>
          </a:prstGeom>
          <a:noFill/>
          <a:ln/>
        </p:spPr>
        <p:txBody>
          <a:bodyPr wrap="square" lIns="0" tIns="0" rIns="0" bIns="0" rtlCol="0" anchor="t"/>
          <a:lstStyle/>
          <a:p>
            <a:pPr algn="ctr" indent="0" marL="0">
              <a:buNone/>
            </a:pPr>
            <a:r>
              <a:rPr lang="en-US" sz="1500" dirty="0">
                <a:solidFill>
                  <a:schemeClr val="tx2"/>
                </a:solidFill>
              </a:rPr>
              <a:t>Accessibilité</a:t>
            </a:r>
            <a:endParaRPr lang="en-US" sz="1500" dirty="0"/>
          </a:p>
        </p:txBody>
      </p:sp>
      <p:sp>
        <p:nvSpPr>
          <p:cNvPr id="9" name="Text 7"/>
          <p:cNvSpPr txBox="1"/>
          <p:nvPr/>
        </p:nvSpPr>
        <p:spPr>
          <a:xfrm>
            <a:off x="6035040" y="3246120"/>
            <a:ext cx="2651760" cy="1005840"/>
          </a:xfrm>
          <a:prstGeom prst="rect">
            <a:avLst/>
          </a:prstGeom>
          <a:noFill/>
          <a:ln/>
        </p:spPr>
        <p:txBody>
          <a:bodyPr wrap="square" lIns="0" tIns="0" rIns="0" bIns="0" rtlCol="0" anchor="ctr"/>
          <a:lstStyle/>
          <a:p>
            <a:pPr algn="ctr" indent="0" marL="0">
              <a:buNone/>
            </a:pPr>
            <a:r>
              <a:rPr lang="en-US" sz="6000" b="1" dirty="0">
                <a:solidFill>
                  <a:schemeClr val="accent3"/>
                </a:solidFill>
              </a:rPr>
              <a:t>100</a:t>
            </a:r>
            <a:endParaRPr lang="en-US" sz="6000" dirty="0"/>
          </a:p>
        </p:txBody>
      </p:sp>
      <p:sp>
        <p:nvSpPr>
          <p:cNvPr id="10" name="Text 8"/>
          <p:cNvSpPr txBox="1"/>
          <p:nvPr/>
        </p:nvSpPr>
        <p:spPr>
          <a:xfrm>
            <a:off x="6035040" y="4251960"/>
            <a:ext cx="2651760" cy="457200"/>
          </a:xfrm>
          <a:prstGeom prst="rect">
            <a:avLst/>
          </a:prstGeom>
          <a:noFill/>
          <a:ln/>
        </p:spPr>
        <p:txBody>
          <a:bodyPr wrap="square" lIns="0" tIns="0" rIns="0" bIns="0" rtlCol="0" anchor="t"/>
          <a:lstStyle/>
          <a:p>
            <a:pPr algn="ctr" indent="0" marL="0">
              <a:buNone/>
            </a:pPr>
            <a:r>
              <a:rPr lang="en-US" sz="1500" dirty="0">
                <a:solidFill>
                  <a:schemeClr val="tx2"/>
                </a:solidFill>
              </a:rPr>
              <a:t>Bonnes pratiques</a:t>
            </a:r>
            <a:endParaRPr lang="en-US" sz="1500" dirty="0"/>
          </a:p>
        </p:txBody>
      </p:sp>
      <p:sp>
        <p:nvSpPr>
          <p:cNvPr id="11" name="Text 9"/>
          <p:cNvSpPr txBox="1"/>
          <p:nvPr/>
        </p:nvSpPr>
        <p:spPr>
          <a:xfrm>
            <a:off x="8869680" y="3246120"/>
            <a:ext cx="2651760" cy="1005840"/>
          </a:xfrm>
          <a:prstGeom prst="rect">
            <a:avLst/>
          </a:prstGeom>
          <a:noFill/>
          <a:ln/>
        </p:spPr>
        <p:txBody>
          <a:bodyPr wrap="square" lIns="0" tIns="0" rIns="0" bIns="0" rtlCol="0" anchor="ctr"/>
          <a:lstStyle/>
          <a:p>
            <a:pPr algn="ctr" indent="0" marL="0">
              <a:buNone/>
            </a:pPr>
            <a:r>
              <a:rPr lang="en-US" sz="6000" b="1" dirty="0">
                <a:solidFill>
                  <a:schemeClr val="accent3"/>
                </a:solidFill>
              </a:rPr>
              <a:t>100</a:t>
            </a:r>
            <a:endParaRPr lang="en-US" sz="6000" dirty="0"/>
          </a:p>
        </p:txBody>
      </p:sp>
      <p:sp>
        <p:nvSpPr>
          <p:cNvPr id="12" name="Text 10"/>
          <p:cNvSpPr txBox="1"/>
          <p:nvPr/>
        </p:nvSpPr>
        <p:spPr>
          <a:xfrm>
            <a:off x="8869680" y="4251960"/>
            <a:ext cx="2651760" cy="457200"/>
          </a:xfrm>
          <a:prstGeom prst="rect">
            <a:avLst/>
          </a:prstGeom>
          <a:noFill/>
          <a:ln/>
        </p:spPr>
        <p:txBody>
          <a:bodyPr wrap="square" lIns="0" tIns="0" rIns="0" bIns="0" rtlCol="0" anchor="t"/>
          <a:lstStyle/>
          <a:p>
            <a:pPr algn="ctr" indent="0" marL="0">
              <a:buNone/>
            </a:pPr>
            <a:r>
              <a:rPr lang="en-US" sz="1500" dirty="0">
                <a:solidFill>
                  <a:schemeClr val="tx2"/>
                </a:solidFill>
              </a:rPr>
              <a:t>SEO</a:t>
            </a:r>
            <a:endParaRPr lang="en-US" sz="1500" dirty="0"/>
          </a:p>
        </p:txBody>
      </p:sp>
      <p:sp>
        <p:nvSpPr>
          <p:cNvPr id="13" name="Text 11"/>
          <p:cNvSpPr txBox="1"/>
          <p:nvPr/>
        </p:nvSpPr>
        <p:spPr>
          <a:xfrm>
            <a:off x="6035040" y="5257800"/>
            <a:ext cx="5577840" cy="365760"/>
          </a:xfrm>
          <a:prstGeom prst="rect">
            <a:avLst/>
          </a:prstGeom>
          <a:noFill/>
          <a:ln/>
        </p:spPr>
        <p:txBody>
          <a:bodyPr wrap="square" lIns="0" tIns="0" rIns="0" bIns="0" rtlCol="0" anchor="ctr"/>
          <a:lstStyle/>
          <a:p>
            <a:pPr algn="ctr" indent="0" marL="0">
              <a:buNone/>
            </a:pPr>
            <a:r>
              <a:rPr lang="en-US" sz="1400" i="1" dirty="0">
                <a:solidFill>
                  <a:schemeClr val="accent4"/>
                </a:solidFill>
              </a:rPr>
              <a:t>Lighthouse, site en production</a:t>
            </a:r>
            <a:endParaRPr lang="en-US" sz="14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Démonstration en direct</a:t>
            </a:r>
            <a:endParaRPr lang="en-US" sz="3200" dirty="0"/>
          </a:p>
        </p:txBody>
      </p:sp>
      <p:sp>
        <p:nvSpPr>
          <p:cNvPr id="3" name="Text 1">
            <a:hlinkClick r:id="rId1" tooltip=""/>
          </p:cNvPr>
          <p:cNvSpPr txBox="1"/>
          <p:nvPr/>
        </p:nvSpPr>
        <p:spPr>
          <a:xfrm>
            <a:off x="548640" y="1371600"/>
            <a:ext cx="11064240" cy="731520"/>
          </a:xfrm>
          <a:prstGeom prst="rect">
            <a:avLst/>
          </a:prstGeom>
          <a:noFill/>
          <a:ln/>
        </p:spPr>
        <p:txBody>
          <a:bodyPr wrap="square" lIns="0" tIns="0" rIns="0" bIns="0" rtlCol="0" anchor="ctr"/>
          <a:lstStyle/>
          <a:p>
            <a:pPr algn="ctr" indent="0" marL="0">
              <a:buNone/>
            </a:pPr>
            <a:r>
              <a:rPr lang="en-US" sz="320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hermann.alwaysdata.net/innovshop</a:t>
            </a:r>
            <a:endParaRPr lang="en-US" sz="3200" dirty="0"/>
          </a:p>
        </p:txBody>
      </p:sp>
      <p:sp>
        <p:nvSpPr>
          <p:cNvPr id="4" name="carte-Parcours client"/>
          <p:cNvSpPr/>
          <p:nvPr/>
        </p:nvSpPr>
        <p:spPr>
          <a:xfrm>
            <a:off x="548640" y="2468880"/>
            <a:ext cx="5394960" cy="2651760"/>
          </a:xfrm>
          <a:prstGeom prst="roundRect">
            <a:avLst>
              <a:gd name="adj" fmla="val 4138"/>
            </a:avLst>
          </a:prstGeom>
          <a:solidFill>
            <a:schemeClr val="bg2"/>
          </a:solidFill>
          <a:ln w="12700">
            <a:solidFill>
              <a:schemeClr val="bg2"/>
            </a:solidFill>
            <a:prstDash val="solid"/>
          </a:ln>
        </p:spPr>
      </p:sp>
      <p:sp>
        <p:nvSpPr>
          <p:cNvPr id="5" name="pastille-Parcours client"/>
          <p:cNvSpPr/>
          <p:nvPr/>
        </p:nvSpPr>
        <p:spPr>
          <a:xfrm>
            <a:off x="777240" y="2724912"/>
            <a:ext cx="201168" cy="201168"/>
          </a:xfrm>
          <a:prstGeom prst="ellipse">
            <a:avLst/>
          </a:prstGeom>
          <a:solidFill>
            <a:schemeClr val="accent1"/>
          </a:solidFill>
          <a:ln w="12700">
            <a:solidFill>
              <a:schemeClr val="accent1"/>
            </a:solidFill>
            <a:prstDash val="solid"/>
          </a:ln>
        </p:spPr>
      </p:sp>
      <p:sp>
        <p:nvSpPr>
          <p:cNvPr id="6" name="Text 4"/>
          <p:cNvSpPr txBox="1"/>
          <p:nvPr/>
        </p:nvSpPr>
        <p:spPr>
          <a:xfrm>
            <a:off x="1097280" y="2633472"/>
            <a:ext cx="4663440" cy="384048"/>
          </a:xfrm>
          <a:prstGeom prst="rect">
            <a:avLst/>
          </a:prstGeom>
          <a:noFill/>
          <a:ln/>
        </p:spPr>
        <p:txBody>
          <a:bodyPr wrap="square" lIns="0" tIns="0" rIns="0" bIns="0" rtlCol="0" anchor="ctr"/>
          <a:lstStyle/>
          <a:p>
            <a:pPr indent="0" marL="0">
              <a:buNone/>
            </a:pPr>
            <a:r>
              <a:rPr lang="en-US" sz="1800" b="1" dirty="0">
                <a:solidFill>
                  <a:schemeClr val="tx1"/>
                </a:solidFill>
              </a:rPr>
              <a:t>Parcours client</a:t>
            </a:r>
            <a:endParaRPr lang="en-US" sz="1800" dirty="0"/>
          </a:p>
        </p:txBody>
      </p:sp>
      <p:sp>
        <p:nvSpPr>
          <p:cNvPr id="7" name="Text 5"/>
          <p:cNvSpPr txBox="1"/>
          <p:nvPr/>
        </p:nvSpPr>
        <p:spPr>
          <a:xfrm>
            <a:off x="777240" y="3154680"/>
            <a:ext cx="4937760" cy="18288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tx2"/>
                </a:solidFill>
              </a:rPr>
              <a:t>Recherche « veste » dans le catalogue</a:t>
            </a:r>
            <a:endParaRPr lang="en-US" sz="1600" dirty="0"/>
          </a:p>
          <a:p>
            <a:pPr marL="342900" indent="-342900">
              <a:spcAft>
                <a:spcPts val="800"/>
              </a:spcAft>
              <a:buSzPct val="100000"/>
              <a:buFont typeface="+mj-lt"/>
              <a:buAutoNum type="arabicPeriod" startAt="1"/>
            </a:pPr>
            <a:r>
              <a:rPr lang="en-US" sz="1600" dirty="0">
                <a:solidFill>
                  <a:schemeClr val="tx2"/>
                </a:solidFill>
              </a:rPr>
              <a:t>Ajout au panier : le compteur change sans recharger</a:t>
            </a:r>
            <a:endParaRPr lang="en-US" sz="1600" dirty="0"/>
          </a:p>
          <a:p>
            <a:pPr marL="342900" indent="-342900">
              <a:spcAft>
                <a:spcPts val="800"/>
              </a:spcAft>
              <a:buSzPct val="100000"/>
              <a:buFont typeface="+mj-lt"/>
              <a:buAutoNum type="arabicPeriod" startAt="1"/>
            </a:pPr>
            <a:r>
              <a:rPr lang="en-US" sz="1600" dirty="0">
                <a:solidFill>
                  <a:schemeClr val="tx2"/>
                </a:solidFill>
              </a:rPr>
              <a:t>Commande en 3 étapes</a:t>
            </a:r>
            <a:endParaRPr lang="en-US" sz="1600" dirty="0"/>
          </a:p>
          <a:p>
            <a:pPr marL="342900" indent="-342900">
              <a:spcAft>
                <a:spcPts val="800"/>
              </a:spcAft>
              <a:buSzPct val="100000"/>
              <a:buFont typeface="+mj-lt"/>
              <a:buAutoNum type="arabicPeriod" startAt="1"/>
            </a:pPr>
            <a:r>
              <a:rPr lang="en-US" sz="1600" dirty="0">
                <a:solidFill>
                  <a:schemeClr val="tx2"/>
                </a:solidFill>
              </a:rPr>
              <a:t>Espace client : suivi et facture PDF</a:t>
            </a:r>
            <a:endParaRPr lang="en-US" sz="1600" dirty="0"/>
          </a:p>
        </p:txBody>
      </p:sp>
      <p:sp>
        <p:nvSpPr>
          <p:cNvPr id="8" name="carte-Parcours administrateur"/>
          <p:cNvSpPr/>
          <p:nvPr/>
        </p:nvSpPr>
        <p:spPr>
          <a:xfrm>
            <a:off x="6217920" y="2468880"/>
            <a:ext cx="5394960" cy="2651760"/>
          </a:xfrm>
          <a:prstGeom prst="roundRect">
            <a:avLst>
              <a:gd name="adj" fmla="val 4138"/>
            </a:avLst>
          </a:prstGeom>
          <a:solidFill>
            <a:schemeClr val="bg2"/>
          </a:solidFill>
          <a:ln w="12700">
            <a:solidFill>
              <a:schemeClr val="bg2"/>
            </a:solidFill>
            <a:prstDash val="solid"/>
          </a:ln>
        </p:spPr>
      </p:sp>
      <p:sp>
        <p:nvSpPr>
          <p:cNvPr id="9" name="pastille-Parcours administrateur"/>
          <p:cNvSpPr/>
          <p:nvPr/>
        </p:nvSpPr>
        <p:spPr>
          <a:xfrm>
            <a:off x="6446520" y="2724912"/>
            <a:ext cx="201168" cy="201168"/>
          </a:xfrm>
          <a:prstGeom prst="ellipse">
            <a:avLst/>
          </a:prstGeom>
          <a:solidFill>
            <a:schemeClr val="accent2"/>
          </a:solidFill>
          <a:ln w="12700">
            <a:solidFill>
              <a:schemeClr val="accent2"/>
            </a:solidFill>
            <a:prstDash val="solid"/>
          </a:ln>
        </p:spPr>
      </p:sp>
      <p:sp>
        <p:nvSpPr>
          <p:cNvPr id="10" name="Text 8"/>
          <p:cNvSpPr txBox="1"/>
          <p:nvPr/>
        </p:nvSpPr>
        <p:spPr>
          <a:xfrm>
            <a:off x="6766560" y="2633472"/>
            <a:ext cx="4663440" cy="384048"/>
          </a:xfrm>
          <a:prstGeom prst="rect">
            <a:avLst/>
          </a:prstGeom>
          <a:noFill/>
          <a:ln/>
        </p:spPr>
        <p:txBody>
          <a:bodyPr wrap="square" lIns="0" tIns="0" rIns="0" bIns="0" rtlCol="0" anchor="ctr"/>
          <a:lstStyle/>
          <a:p>
            <a:pPr indent="0" marL="0">
              <a:buNone/>
            </a:pPr>
            <a:r>
              <a:rPr lang="en-US" sz="1800" b="1" dirty="0">
                <a:solidFill>
                  <a:schemeClr val="tx1"/>
                </a:solidFill>
              </a:rPr>
              <a:t>Parcours administrateur</a:t>
            </a:r>
            <a:endParaRPr lang="en-US" sz="1800" dirty="0"/>
          </a:p>
        </p:txBody>
      </p:sp>
      <p:sp>
        <p:nvSpPr>
          <p:cNvPr id="11" name="Text 9"/>
          <p:cNvSpPr txBox="1"/>
          <p:nvPr/>
        </p:nvSpPr>
        <p:spPr>
          <a:xfrm>
            <a:off x="6446520" y="3154680"/>
            <a:ext cx="4937760" cy="18288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tx2"/>
                </a:solidFill>
              </a:rPr>
              <a:t>Back-office EasyAdmin</a:t>
            </a:r>
            <a:endParaRPr lang="en-US" sz="1600" dirty="0"/>
          </a:p>
          <a:p>
            <a:pPr marL="342900" indent="-342900">
              <a:spcAft>
                <a:spcPts val="800"/>
              </a:spcAft>
              <a:buSzPct val="100000"/>
              <a:buFont typeface="+mj-lt"/>
              <a:buAutoNum type="arabicPeriod" startAt="1"/>
            </a:pPr>
            <a:r>
              <a:rPr lang="en-US" sz="1600" dirty="0">
                <a:solidFill>
                  <a:schemeClr val="tx2"/>
                </a:solidFill>
              </a:rPr>
              <a:t>Liste des produits et des commandes</a:t>
            </a:r>
            <a:endParaRPr lang="en-US" sz="1600" dirty="0"/>
          </a:p>
          <a:p>
            <a:pPr marL="342900" indent="-342900">
              <a:spcAft>
                <a:spcPts val="800"/>
              </a:spcAft>
              <a:buSzPct val="100000"/>
              <a:buFont typeface="+mj-lt"/>
              <a:buAutoNum type="arabicPeriod" startAt="1"/>
            </a:pPr>
            <a:r>
              <a:rPr lang="en-US" sz="1600" dirty="0">
                <a:solidFill>
                  <a:schemeClr val="tx2"/>
                </a:solidFill>
              </a:rPr>
              <a:t>Changement de statut → email au client</a:t>
            </a:r>
            <a:endParaRPr lang="en-US" sz="16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Bilan</a:t>
            </a:r>
            <a:endParaRPr lang="en-US" sz="3200" dirty="0"/>
          </a:p>
        </p:txBody>
      </p:sp>
      <p:sp>
        <p:nvSpPr>
          <p:cNvPr id="3" name="carte-Mes satisfactions"/>
          <p:cNvSpPr/>
          <p:nvPr/>
        </p:nvSpPr>
        <p:spPr>
          <a:xfrm>
            <a:off x="548640" y="1463040"/>
            <a:ext cx="5394960" cy="3017520"/>
          </a:xfrm>
          <a:prstGeom prst="roundRect">
            <a:avLst>
              <a:gd name="adj" fmla="val 3636"/>
            </a:avLst>
          </a:prstGeom>
          <a:solidFill>
            <a:schemeClr val="bg2"/>
          </a:solidFill>
          <a:ln w="12700">
            <a:solidFill>
              <a:schemeClr val="bg2"/>
            </a:solidFill>
            <a:prstDash val="solid"/>
          </a:ln>
        </p:spPr>
      </p:sp>
      <p:sp>
        <p:nvSpPr>
          <p:cNvPr id="4" name="pastille-Mes satisfactions"/>
          <p:cNvSpPr/>
          <p:nvPr/>
        </p:nvSpPr>
        <p:spPr>
          <a:xfrm>
            <a:off x="777240" y="1719072"/>
            <a:ext cx="201168" cy="201168"/>
          </a:xfrm>
          <a:prstGeom prst="ellipse">
            <a:avLst/>
          </a:prstGeom>
          <a:solidFill>
            <a:schemeClr val="accent3"/>
          </a:solidFill>
          <a:ln w="12700">
            <a:solidFill>
              <a:schemeClr val="accent3"/>
            </a:solidFill>
            <a:prstDash val="solid"/>
          </a:ln>
        </p:spPr>
      </p:sp>
      <p:sp>
        <p:nvSpPr>
          <p:cNvPr id="5" name="Text 3"/>
          <p:cNvSpPr txBox="1"/>
          <p:nvPr/>
        </p:nvSpPr>
        <p:spPr>
          <a:xfrm>
            <a:off x="1097280" y="1627632"/>
            <a:ext cx="4663440" cy="384048"/>
          </a:xfrm>
          <a:prstGeom prst="rect">
            <a:avLst/>
          </a:prstGeom>
          <a:noFill/>
          <a:ln/>
        </p:spPr>
        <p:txBody>
          <a:bodyPr wrap="square" lIns="0" tIns="0" rIns="0" bIns="0" rtlCol="0" anchor="ctr"/>
          <a:lstStyle/>
          <a:p>
            <a:pPr indent="0" marL="0">
              <a:buNone/>
            </a:pPr>
            <a:r>
              <a:rPr lang="en-US" sz="1800" b="1" dirty="0">
                <a:solidFill>
                  <a:schemeClr val="tx1"/>
                </a:solidFill>
              </a:rPr>
              <a:t>Mes satisfactions</a:t>
            </a:r>
            <a:endParaRPr lang="en-US" sz="1800" dirty="0"/>
          </a:p>
        </p:txBody>
      </p:sp>
      <p:sp>
        <p:nvSpPr>
          <p:cNvPr id="6" name="Text 4"/>
          <p:cNvSpPr txBox="1"/>
          <p:nvPr/>
        </p:nvSpPr>
        <p:spPr>
          <a:xfrm>
            <a:off x="777240" y="2148840"/>
            <a:ext cx="493776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La commande sécurisée de bout en bout</a:t>
            </a:r>
            <a:endParaRPr lang="en-US" sz="1600" dirty="0"/>
          </a:p>
          <a:p>
            <a:pPr marL="342900" indent="-342900">
              <a:spcAft>
                <a:spcPts val="800"/>
              </a:spcAft>
              <a:buSzPct val="100000"/>
              <a:buChar char="•"/>
            </a:pPr>
            <a:r>
              <a:rPr lang="en-US" sz="1600" dirty="0">
                <a:solidFill>
                  <a:schemeClr val="tx2"/>
                </a:solidFill>
              </a:rPr>
              <a:t>L’email automatique au changement de statut</a:t>
            </a:r>
            <a:endParaRPr lang="en-US" sz="1600" dirty="0"/>
          </a:p>
          <a:p>
            <a:pPr marL="342900" indent="-342900">
              <a:spcAft>
                <a:spcPts val="800"/>
              </a:spcAft>
              <a:buSzPct val="100000"/>
              <a:buChar char="•"/>
            </a:pPr>
            <a:r>
              <a:rPr lang="en-US" sz="1600" dirty="0">
                <a:solidFill>
                  <a:schemeClr val="tx2"/>
                </a:solidFill>
              </a:rPr>
              <a:t>De 10 à 2 requêtes, et Lighthouse 100</a:t>
            </a:r>
            <a:endParaRPr lang="en-US" sz="1600" dirty="0"/>
          </a:p>
          <a:p>
            <a:pPr marL="342900" indent="-342900">
              <a:spcAft>
                <a:spcPts val="800"/>
              </a:spcAft>
              <a:buSzPct val="100000"/>
              <a:buChar char="•"/>
            </a:pPr>
            <a:r>
              <a:rPr lang="en-US" sz="1600" dirty="0">
                <a:solidFill>
                  <a:schemeClr val="tx2"/>
                </a:solidFill>
              </a:rPr>
              <a:t>Un site complet et en ligne</a:t>
            </a:r>
            <a:endParaRPr lang="en-US" sz="1600" dirty="0"/>
          </a:p>
        </p:txBody>
      </p:sp>
      <p:sp>
        <p:nvSpPr>
          <p:cNvPr id="7" name="carte-Mes difficultés"/>
          <p:cNvSpPr/>
          <p:nvPr/>
        </p:nvSpPr>
        <p:spPr>
          <a:xfrm>
            <a:off x="6217920" y="1463040"/>
            <a:ext cx="5394960" cy="3017520"/>
          </a:xfrm>
          <a:prstGeom prst="roundRect">
            <a:avLst>
              <a:gd name="adj" fmla="val 3636"/>
            </a:avLst>
          </a:prstGeom>
          <a:solidFill>
            <a:schemeClr val="bg2"/>
          </a:solidFill>
          <a:ln w="12700">
            <a:solidFill>
              <a:schemeClr val="bg2"/>
            </a:solidFill>
            <a:prstDash val="solid"/>
          </a:ln>
        </p:spPr>
      </p:sp>
      <p:sp>
        <p:nvSpPr>
          <p:cNvPr id="8" name="pastille-Mes difficultés"/>
          <p:cNvSpPr/>
          <p:nvPr/>
        </p:nvSpPr>
        <p:spPr>
          <a:xfrm>
            <a:off x="6446520" y="1719072"/>
            <a:ext cx="201168" cy="201168"/>
          </a:xfrm>
          <a:prstGeom prst="ellipse">
            <a:avLst/>
          </a:prstGeom>
          <a:solidFill>
            <a:schemeClr val="accent5"/>
          </a:solidFill>
          <a:ln w="12700">
            <a:solidFill>
              <a:schemeClr val="accent5"/>
            </a:solidFill>
            <a:prstDash val="solid"/>
          </a:ln>
        </p:spPr>
      </p:sp>
      <p:sp>
        <p:nvSpPr>
          <p:cNvPr id="9" name="Text 7"/>
          <p:cNvSpPr txBox="1"/>
          <p:nvPr/>
        </p:nvSpPr>
        <p:spPr>
          <a:xfrm>
            <a:off x="6766560" y="1627632"/>
            <a:ext cx="4663440" cy="384048"/>
          </a:xfrm>
          <a:prstGeom prst="rect">
            <a:avLst/>
          </a:prstGeom>
          <a:noFill/>
          <a:ln/>
        </p:spPr>
        <p:txBody>
          <a:bodyPr wrap="square" lIns="0" tIns="0" rIns="0" bIns="0" rtlCol="0" anchor="ctr"/>
          <a:lstStyle/>
          <a:p>
            <a:pPr indent="0" marL="0">
              <a:buNone/>
            </a:pPr>
            <a:r>
              <a:rPr lang="en-US" sz="1800" b="1" dirty="0">
                <a:solidFill>
                  <a:schemeClr val="tx1"/>
                </a:solidFill>
              </a:rPr>
              <a:t>Mes difficultés</a:t>
            </a:r>
            <a:endParaRPr lang="en-US" sz="1800" dirty="0"/>
          </a:p>
        </p:txBody>
      </p:sp>
      <p:sp>
        <p:nvSpPr>
          <p:cNvPr id="10" name="Text 8"/>
          <p:cNvSpPr txBox="1"/>
          <p:nvPr/>
        </p:nvSpPr>
        <p:spPr>
          <a:xfrm>
            <a:off x="6446520" y="2148840"/>
            <a:ext cx="493776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Le problème N+1 : mesurer avant d’optimiser</a:t>
            </a:r>
            <a:endParaRPr lang="en-US" sz="1600" dirty="0"/>
          </a:p>
          <a:p>
            <a:pPr marL="342900" indent="-342900">
              <a:spcAft>
                <a:spcPts val="800"/>
              </a:spcAft>
              <a:buSzPct val="100000"/>
              <a:buChar char="•"/>
            </a:pPr>
            <a:r>
              <a:rPr lang="en-US" sz="1600" dirty="0">
                <a:solidFill>
                  <a:schemeClr val="tx2"/>
                </a:solidFill>
              </a:rPr>
              <a:t>Turbo bloquait la recherche : data-turbo="false"</a:t>
            </a:r>
            <a:endParaRPr lang="en-US" sz="1600" dirty="0"/>
          </a:p>
          <a:p>
            <a:pPr marL="342900" indent="-342900">
              <a:spcAft>
                <a:spcPts val="800"/>
              </a:spcAft>
              <a:buSzPct val="100000"/>
              <a:buChar char="•"/>
            </a:pPr>
            <a:r>
              <a:rPr lang="en-US" sz="1600" dirty="0">
                <a:solidFill>
                  <a:schemeClr val="tx2"/>
                </a:solidFill>
              </a:rPr>
              <a:t>Une erreur CSRF muette : gérer l’erreur des deux côtés</a:t>
            </a:r>
            <a:endParaRPr lang="en-US" sz="1600" dirty="0"/>
          </a:p>
          <a:p>
            <a:pPr marL="342900" indent="-342900">
              <a:spcAft>
                <a:spcPts val="800"/>
              </a:spcAft>
              <a:buSzPct val="100000"/>
              <a:buChar char="•"/>
            </a:pPr>
            <a:r>
              <a:rPr lang="en-US" sz="1600" dirty="0">
                <a:solidFill>
                  <a:schemeClr val="tx2"/>
                </a:solidFill>
              </a:rPr>
              <a:t>La mise en ligne : lire chaque message d’erreur</a:t>
            </a:r>
            <a:endParaRPr lang="en-US" sz="16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Conclusion et suite</a:t>
            </a:r>
            <a:endParaRPr lang="en-US" sz="3200" dirty="0"/>
          </a:p>
        </p:txBody>
      </p:sp>
      <p:sp>
        <p:nvSpPr>
          <p:cNvPr id="3" name="Text 1"/>
          <p:cNvSpPr txBox="1"/>
          <p:nvPr/>
        </p:nvSpPr>
        <p:spPr>
          <a:xfrm>
            <a:off x="548640" y="1371600"/>
            <a:ext cx="11064240" cy="914400"/>
          </a:xfrm>
          <a:prstGeom prst="rect">
            <a:avLst/>
          </a:prstGeom>
          <a:noFill/>
          <a:ln/>
        </p:spPr>
        <p:txBody>
          <a:bodyPr wrap="square" lIns="0" tIns="0" rIns="0" bIns="0" rtlCol="0" anchor="ctr"/>
          <a:lstStyle/>
          <a:p>
            <a:pPr indent="0" marL="0">
              <a:buNone/>
            </a:pPr>
            <a:r>
              <a:rPr lang="en-US" sz="2200" b="1" dirty="0">
                <a:solidFill>
                  <a:schemeClr val="tx1"/>
                </a:solidFill>
              </a:rPr>
              <a:t>Une application complète, de l’analyse du besoin à la mise en ligne, qui couvre les 8 compétences du titre.</a:t>
            </a:r>
            <a:endParaRPr lang="en-US" sz="2200" dirty="0"/>
          </a:p>
        </p:txBody>
      </p:sp>
      <p:sp>
        <p:nvSpPr>
          <p:cNvPr id="4" name="Text 2"/>
          <p:cNvSpPr txBox="1"/>
          <p:nvPr/>
        </p:nvSpPr>
        <p:spPr>
          <a:xfrm>
            <a:off x="548640" y="2651760"/>
            <a:ext cx="11064240" cy="457200"/>
          </a:xfrm>
          <a:prstGeom prst="rect">
            <a:avLst/>
          </a:prstGeom>
          <a:noFill/>
          <a:ln/>
        </p:spPr>
        <p:txBody>
          <a:bodyPr wrap="square" lIns="0" tIns="0" rIns="0" bIns="0" rtlCol="0" anchor="ctr"/>
          <a:lstStyle/>
          <a:p>
            <a:pPr indent="0" marL="0">
              <a:buNone/>
            </a:pPr>
            <a:r>
              <a:rPr lang="en-US" sz="2000" b="1" dirty="0">
                <a:solidFill>
                  <a:schemeClr val="accent1"/>
                </a:solidFill>
              </a:rPr>
              <a:t>Pour aller plus loin</a:t>
            </a:r>
            <a:endParaRPr lang="en-US" sz="2000" dirty="0"/>
          </a:p>
        </p:txBody>
      </p:sp>
      <p:sp>
        <p:nvSpPr>
          <p:cNvPr id="5" name="Text 3"/>
          <p:cNvSpPr txBox="1"/>
          <p:nvPr/>
        </p:nvSpPr>
        <p:spPr>
          <a:xfrm>
            <a:off x="548640" y="3200400"/>
            <a:ext cx="1106424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2"/>
                </a:solidFill>
              </a:rPr>
              <a:t>Paiement en ligne (Stripe en mode test)</a:t>
            </a:r>
            <a:endParaRPr lang="en-US" sz="1800" dirty="0"/>
          </a:p>
          <a:p>
            <a:pPr marL="342900" indent="-342900">
              <a:spcAft>
                <a:spcPts val="1000"/>
              </a:spcAft>
              <a:buSzPct val="100000"/>
              <a:buChar char="•"/>
            </a:pPr>
            <a:r>
              <a:rPr lang="en-US" sz="1800" dirty="0">
                <a:solidFill>
                  <a:schemeClr val="tx2"/>
                </a:solidFill>
              </a:rPr>
              <a:t>Quantités dans le panier et gestion du stock</a:t>
            </a:r>
            <a:endParaRPr lang="en-US" sz="1800" dirty="0"/>
          </a:p>
          <a:p>
            <a:pPr marL="342900" indent="-342900">
              <a:spcAft>
                <a:spcPts val="1000"/>
              </a:spcAft>
              <a:buSzPct val="100000"/>
              <a:buChar char="•"/>
            </a:pPr>
            <a:r>
              <a:rPr lang="en-US" sz="1800" dirty="0">
                <a:solidFill>
                  <a:schemeClr val="tx2"/>
                </a:solidFill>
              </a:rPr>
              <a:t>Journal des actions sensibles</a:t>
            </a:r>
            <a:endParaRPr lang="en-US" sz="1800" dirty="0"/>
          </a:p>
          <a:p>
            <a:pPr marL="342900" indent="-342900">
              <a:spcAft>
                <a:spcPts val="1000"/>
              </a:spcAft>
              <a:buSzPct val="100000"/>
              <a:buChar char="•"/>
            </a:pPr>
            <a:r>
              <a:rPr lang="en-US" sz="1800" dirty="0">
                <a:solidFill>
                  <a:schemeClr val="tx2"/>
                </a:solidFill>
              </a:rPr>
              <a:t>Tests et composer audit automatiques à chaque envoi sur GitHub</a:t>
            </a:r>
            <a:endParaRPr lang="en-US" sz="1800" dirty="0"/>
          </a:p>
        </p:txBody>
      </p:sp>
      <p:sp>
        <p:nvSpPr>
          <p:cNvPr id="25" name="Slide Number Placeholder 0"/>
          <p:cNvSpPr>
            <a:spLocks noGrp="1"/>
          </p:cNvSpPr>
          <p:nvPr>
            <p:ph type="sldNum" sz="quarter" idx="4294967295"/>
          </p:nvPr>
        </p:nvSpPr>
        <p:spPr>
          <a:xfrm>
            <a:off x="11064240" y="6327648"/>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rPr>
              <a:t>Merci</a:t>
            </a:r>
            <a:endParaRPr lang="en-US" sz="5400" dirty="0"/>
          </a:p>
        </p:txBody>
      </p:sp>
      <p:sp>
        <p:nvSpPr>
          <p:cNvPr id="3" name="Text 0"/>
          <p:cNvSpPr/>
          <p:nvPr>
            <p:ph idx="101" type="body" hasCustomPrompt="1"/>
          </p:nvPr>
        </p:nvSpPr>
        <p:spPr>
          <a:xfrm>
            <a:off x="731520" y="3429000"/>
            <a:ext cx="10698480" cy="2011680"/>
          </a:xfrm>
          <a:prstGeom prst="rect">
            <a:avLst/>
          </a:prstGeom>
          <a:noFill/>
          <a:ln/>
        </p:spPr>
        <p:txBody>
          <a:bodyPr wrap="square" lIns="0" tIns="0" rIns="0" bIns="0" rtlCol="0" anchor="t"/>
          <a:lstStyle/>
          <a:p>
            <a:pPr indent="0" marL="0">
              <a:buNone/>
            </a:pPr>
            <a:r>
              <a:rPr lang="en-US" sz="2200" dirty="0">
                <a:solidFill>
                  <a:schemeClr val="bg2"/>
                </a:solidFill>
              </a:rPr>
              <a:t>Avez-vous des questions ?</a:t>
            </a:r>
            <a:endParaRPr lang="en-US" sz="2200" dirty="0"/>
          </a:p>
          <a:p>
            <a:pPr indent="0" marL="0">
              <a:buNone/>
            </a:pPr>
            <a:r>
              <a:rPr lang="en-US" sz="1200" dirty="0">
                <a:solidFill>
                  <a:schemeClr val="bg2"/>
                </a:solidFill>
              </a:rPr>
              <a:t> </a:t>
            </a:r>
            <a:endParaRPr lang="en-US" sz="2200" dirty="0"/>
          </a:p>
          <a:p>
            <a:pPr indent="0" marL="0">
              <a:buNone/>
            </a:pPr>
            <a:r>
              <a:rPr lang="en-US" sz="2200" dirty="0">
                <a:solidFill>
                  <a:schemeClr val="accent2"/>
                </a:solidFill>
              </a:rPr>
              <a:t>github.com/LettreH/innovshop</a:t>
            </a:r>
            <a:endParaRPr lang="en-US" sz="2200" dirty="0"/>
          </a:p>
        </p:txBody>
      </p:sp>
    </p:spTree>
  </p:cSld>
  <p:clrMapOvr>
    <a:masterClrMapping/>
  </p:clrMapOvr>
</p:sld>
</file>

<file path=ppt/theme/theme1.xml><?xml version="1.0" encoding="utf-8"?>
<a:theme xmlns:a="http://schemas.openxmlformats.org/drawingml/2006/main" name="InnovShop">
  <a:themeElements>
    <a:clrScheme name="InnovShop">
      <a:dk1>
        <a:srgbClr val="1B1F24"/>
      </a:dk1>
      <a:lt1>
        <a:srgbClr val="FFFFFF"/>
      </a:lt1>
      <a:dk2>
        <a:srgbClr val="343A40"/>
      </a:dk2>
      <a:lt2>
        <a:srgbClr val="F1F4F8"/>
      </a:lt2>
      <a:accent1>
        <a:srgbClr val="0D6EFD"/>
      </a:accent1>
      <a:accent2>
        <a:srgbClr val="FFC107"/>
      </a:accent2>
      <a:accent3>
        <a:srgbClr val="198754"/>
      </a:accent3>
      <a:accent4>
        <a:srgbClr val="6C757D"/>
      </a:accent4>
      <a:accent5>
        <a:srgbClr val="DC3545"/>
      </a:accent5>
      <a:accent6>
        <a:srgbClr val="6F42C1"/>
      </a:accent6>
      <a:hlink>
        <a:srgbClr val="0D6EFD"/>
      </a:hlink>
      <a:folHlink>
        <a:srgbClr val="6F42C1"/>
      </a:folHlink>
    </a:clrScheme>
    <a:fontScheme name="InnovSh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InnovShop — Présentation du projet</dc:title>
  <dc:subject>PptxGenJS Presentation</dc:subject>
  <dc:creator>Hermann MBALA</dc:creator>
  <cp:lastModifiedBy>Hermann MBALA</cp:lastModifiedBy>
  <cp:revision>1</cp:revision>
  <dcterms:created xsi:type="dcterms:W3CDTF">2026-10-18T10:24:43Z</dcterms:created>
  <dcterms:modified xsi:type="dcterms:W3CDTF">2026-10-18T10:24:43Z</dcterms:modified>
</cp:coreProperties>
</file>